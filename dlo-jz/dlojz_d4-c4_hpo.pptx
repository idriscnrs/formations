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2.png" ContentType="image/png"/>
  <Override PartName="/ppt/media/image31.png" ContentType="image/png"/>
  <Override PartName="/ppt/media/image30.png" ContentType="image/png"/>
  <Override PartName="/ppt/media/image49.png" ContentType="image/png"/>
  <Override PartName="/ppt/media/image19.png" ContentType="image/png"/>
  <Override PartName="/ppt/media/image61.png" ContentType="image/png"/>
  <Override PartName="/ppt/media/image21.png" ContentType="image/png"/>
  <Override PartName="/ppt/media/image58.png" ContentType="image/png"/>
  <Override PartName="/ppt/media/image22.png" ContentType="image/png"/>
  <Override PartName="/ppt/media/image59.png" ContentType="image/png"/>
  <Override PartName="/ppt/media/image23.png" ContentType="image/png"/>
  <Override PartName="/ppt/media/image60.png" ContentType="image/png"/>
  <Override PartName="/ppt/media/image18.png" ContentType="image/png"/>
  <Override PartName="/ppt/media/image24.png" ContentType="image/png"/>
  <Override PartName="/ppt/media/image25.png" ContentType="image/png"/>
  <Override PartName="/ppt/media/image62.png" ContentType="image/png"/>
  <Override PartName="/ppt/media/image26.png" ContentType="image/png"/>
  <Override PartName="/ppt/media/image63.png" ContentType="image/png"/>
  <Override PartName="/ppt/media/image27.png" ContentType="image/png"/>
  <Override PartName="/ppt/media/image64.png" ContentType="image/png"/>
  <Override PartName="/ppt/media/image77.png" ContentType="image/png"/>
  <Override PartName="/ppt/media/image65.png" ContentType="image/png"/>
  <Override PartName="/ppt/media/image76.png" ContentType="image/png"/>
  <Override PartName="/ppt/media/image75.png" ContentType="image/png"/>
  <Override PartName="/ppt/media/image74.png" ContentType="image/png"/>
  <Override PartName="/ppt/media/image73.png" ContentType="image/png"/>
  <Override PartName="/ppt/media/image72.png" ContentType="image/png"/>
  <Override PartName="/ppt/media/image71.png" ContentType="image/png"/>
  <Override PartName="/ppt/media/image29.png" ContentType="image/png"/>
  <Override PartName="/ppt/media/image69.png" ContentType="image/png"/>
  <Override PartName="/ppt/media/image70.png" ContentType="image/png"/>
  <Override PartName="/ppt/media/image13.jpeg" ContentType="image/jpeg"/>
  <Override PartName="/ppt/media/image28.png" ContentType="image/png"/>
  <Override PartName="/ppt/media/image68.png" ContentType="image/png"/>
  <Override PartName="/ppt/media/image67.png" ContentType="image/png"/>
  <Override PartName="/ppt/media/image66.png" ContentType="image/png"/>
  <Override PartName="/ppt/media/image20.png" ContentType="image/png"/>
  <Override PartName="/ppt/media/image57.png" ContentType="image/png"/>
  <Override PartName="/ppt/media/image48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4.png" ContentType="image/png"/>
  <Override PartName="/ppt/media/image9.jpeg" ContentType="image/jpeg"/>
  <Override PartName="/ppt/media/image36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33.png" ContentType="image/png"/>
  <Override PartName="/ppt/media/image1.png" ContentType="image/png"/>
  <Override PartName="/ppt/media/image10.png" ContentType="image/png"/>
  <Override PartName="/ppt/media/image47.png" ContentType="image/png"/>
  <Override PartName="/ppt/media/image16.png" ContentType="image/png"/>
  <Override PartName="/ppt/media/image7.png" ContentType="image/png"/>
  <Override PartName="/ppt/media/image39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17.png" ContentType="image/png"/>
  <Override PartName="/ppt/media/image8.png" ContentType="image/png"/>
  <Override PartName="/ppt/media/image35.png" ContentType="image/png"/>
  <Override PartName="/ppt/media/image3.png" ContentType="image/png"/>
  <Override PartName="/ppt/media/image12.png" ContentType="image/png"/>
  <Override PartName="/ppt/embeddings/oleObject1.bin" ContentType="application/vnd.openxmlformats-officedocument.oleObject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chemeClr val="dk1"/>
                </a:solidFill>
                <a:latin typeface="Arial"/>
              </a:rPr>
              <a:t>Cliquez pour déplacer la diapo</a:t>
            </a:r>
            <a:endParaRPr b="0" lang="fr-F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198BEF6-D8E3-4B68-8237-B9117D19183C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Cette partie présente quelques sources d’informations importantes sur les bonnes pratiques et l’état de l’art pour l’accélération de l’apprentissage en Deep Learning.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Cette partie présente quelques sources d’informations importantes sur les bonnes pratiques et l’état de l’art pour l’accélération de l’apprentissage en Deep Learning.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Cette partie présente quelques sources d’informations importantes sur les bonnes pratiques et l’état de l’art pour l’accélération de l’apprentissage en Deep Learning.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Cette partie présente quelques sources d’informations importantes sur les bonnes pratiques et l’état de l’art pour l’accélération de l’apprentissage en Deep Learning.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Cette partie présente quelques sources d’informations importantes sur les bonnes pratiques et l’état de l’art pour l’accélération de l’apprentissage en Deep Learning.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Cette partie présente quelques sources d’informations importantes sur les bonnes pratiques et l’état de l’art pour l’accélération de l’apprentissage en Deep Learning.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B40053-8951-4B27-8BCA-DDF6E69FA3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80CFA6-BF98-4905-BAE5-9D6741E83A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373D557-AA27-4BEE-8C9F-4008342A6A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6126BFC-BFD1-4D69-B2EA-B7EC24E43A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5D514D4-EE0E-45A8-86FF-228E905A0C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1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6D7C772-6428-4A73-94AF-574A74B9DA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61BB5E3-4735-4B9E-8CD6-0BABC427EA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E1EDDBC-5A0F-43A5-98E5-5AD560E425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E340A01-A29D-4D5F-873E-617BDEB623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00D44AB-8CE7-423A-B001-ED2715C680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3A3DF27-417A-45F5-B683-0C43CD04E9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685800">
              <a:lnSpc>
                <a:spcPct val="90000"/>
              </a:lnSpc>
              <a:buNone/>
            </a:pPr>
            <a:r>
              <a:rPr b="0" lang="fr-FR" sz="45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b="0" lang="fr-FR" sz="45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33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b="0" lang="fr-FR" sz="33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48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1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b="0" lang="fr-FR" sz="21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Second level</a:t>
            </a:r>
            <a:endParaRPr b="0" lang="fr-FR" sz="18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500" spc="-1" strike="noStrike">
                <a:solidFill>
                  <a:schemeClr val="dk1"/>
                </a:solidFill>
                <a:latin typeface="Arial"/>
                <a:ea typeface="Arial"/>
              </a:rPr>
              <a:t>Third level</a:t>
            </a:r>
            <a:endParaRPr b="0" lang="fr-FR" sz="1500" spc="-1" strike="noStrike">
              <a:solidFill>
                <a:schemeClr val="dk1"/>
              </a:solidFill>
              <a:latin typeface="Arial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350" spc="-1" strike="noStrike">
                <a:solidFill>
                  <a:schemeClr val="dk1"/>
                </a:solidFill>
                <a:latin typeface="Arial"/>
                <a:ea typeface="Arial"/>
              </a:rPr>
              <a:t>Fourth level</a:t>
            </a:r>
            <a:endParaRPr b="0" lang="fr-FR" sz="135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350" spc="-1" strike="noStrike">
                <a:solidFill>
                  <a:schemeClr val="dk1"/>
                </a:solidFill>
                <a:latin typeface="Arial"/>
                <a:ea typeface="Arial"/>
              </a:rPr>
              <a:t>Fifth level</a:t>
            </a:r>
            <a:endParaRPr b="0" lang="fr-FR" sz="13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33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b="0" lang="fr-FR" sz="33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48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1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b="0" lang="fr-FR" sz="21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Second level</a:t>
            </a:r>
            <a:endParaRPr b="0" lang="fr-FR" sz="18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500" spc="-1" strike="noStrike">
                <a:solidFill>
                  <a:schemeClr val="dk1"/>
                </a:solidFill>
                <a:latin typeface="Arial"/>
                <a:ea typeface="Arial"/>
              </a:rPr>
              <a:t>Third level</a:t>
            </a:r>
            <a:endParaRPr b="0" lang="fr-FR" sz="1500" spc="-1" strike="noStrike">
              <a:solidFill>
                <a:schemeClr val="dk1"/>
              </a:solidFill>
              <a:latin typeface="Arial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350" spc="-1" strike="noStrike">
                <a:solidFill>
                  <a:schemeClr val="dk1"/>
                </a:solidFill>
                <a:latin typeface="Arial"/>
                <a:ea typeface="Arial"/>
              </a:rPr>
              <a:t>Fourth level</a:t>
            </a:r>
            <a:endParaRPr b="0" lang="fr-FR" sz="135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350" spc="-1" strike="noStrike">
                <a:solidFill>
                  <a:schemeClr val="dk1"/>
                </a:solidFill>
                <a:latin typeface="Arial"/>
                <a:ea typeface="Arial"/>
              </a:rPr>
              <a:t>Fifth level</a:t>
            </a:r>
            <a:endParaRPr b="0" lang="fr-FR" sz="13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33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b="0" lang="fr-FR" sz="33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48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1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b="0" lang="fr-FR" sz="21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Second level</a:t>
            </a:r>
            <a:endParaRPr b="0" lang="fr-FR" sz="18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500" spc="-1" strike="noStrike">
                <a:solidFill>
                  <a:schemeClr val="dk1"/>
                </a:solidFill>
                <a:latin typeface="Arial"/>
                <a:ea typeface="Arial"/>
              </a:rPr>
              <a:t>Third level</a:t>
            </a:r>
            <a:endParaRPr b="0" lang="fr-FR" sz="1500" spc="-1" strike="noStrike">
              <a:solidFill>
                <a:schemeClr val="dk1"/>
              </a:solidFill>
              <a:latin typeface="Arial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350" spc="-1" strike="noStrike">
                <a:solidFill>
                  <a:schemeClr val="dk1"/>
                </a:solidFill>
                <a:latin typeface="Arial"/>
                <a:ea typeface="Arial"/>
              </a:rPr>
              <a:t>Fourth level</a:t>
            </a:r>
            <a:endParaRPr b="0" lang="fr-FR" sz="135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350" spc="-1" strike="noStrike">
                <a:solidFill>
                  <a:schemeClr val="dk1"/>
                </a:solidFill>
                <a:latin typeface="Arial"/>
                <a:ea typeface="Arial"/>
              </a:rPr>
              <a:t>Fifth level</a:t>
            </a:r>
            <a:endParaRPr b="0" lang="fr-FR" sz="13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45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b="0" lang="fr-FR" sz="45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48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Click to edit Master text styles</a:t>
            </a:r>
            <a:endParaRPr b="0" lang="fr-F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33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b="0" lang="fr-FR" sz="33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48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1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b="0" lang="fr-FR" sz="21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Second level</a:t>
            </a:r>
            <a:endParaRPr b="0" lang="fr-FR" sz="18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500" spc="-1" strike="noStrike">
                <a:solidFill>
                  <a:schemeClr val="dk1"/>
                </a:solidFill>
                <a:latin typeface="Arial"/>
                <a:ea typeface="Arial"/>
              </a:rPr>
              <a:t>Third level</a:t>
            </a:r>
            <a:endParaRPr b="0" lang="fr-FR" sz="1500" spc="-1" strike="noStrike">
              <a:solidFill>
                <a:schemeClr val="dk1"/>
              </a:solidFill>
              <a:latin typeface="Arial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350" spc="-1" strike="noStrike">
                <a:solidFill>
                  <a:schemeClr val="dk1"/>
                </a:solidFill>
                <a:latin typeface="Arial"/>
                <a:ea typeface="Arial"/>
              </a:rPr>
              <a:t>Fourth level</a:t>
            </a:r>
            <a:endParaRPr b="0" lang="fr-FR" sz="135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350" spc="-1" strike="noStrike">
                <a:solidFill>
                  <a:schemeClr val="dk1"/>
                </a:solidFill>
                <a:latin typeface="Arial"/>
                <a:ea typeface="Arial"/>
              </a:rPr>
              <a:t>Fifth level</a:t>
            </a:r>
            <a:endParaRPr b="0" lang="fr-FR" sz="13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48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1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b="0" lang="fr-FR" sz="21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Second level</a:t>
            </a:r>
            <a:endParaRPr b="0" lang="fr-FR" sz="18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500" spc="-1" strike="noStrike">
                <a:solidFill>
                  <a:schemeClr val="dk1"/>
                </a:solidFill>
                <a:latin typeface="Arial"/>
                <a:ea typeface="Arial"/>
              </a:rPr>
              <a:t>Third level</a:t>
            </a:r>
            <a:endParaRPr b="0" lang="fr-FR" sz="1500" spc="-1" strike="noStrike">
              <a:solidFill>
                <a:schemeClr val="dk1"/>
              </a:solidFill>
              <a:latin typeface="Arial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350" spc="-1" strike="noStrike">
                <a:solidFill>
                  <a:schemeClr val="dk1"/>
                </a:solidFill>
                <a:latin typeface="Arial"/>
                <a:ea typeface="Arial"/>
              </a:rPr>
              <a:t>Fourth level</a:t>
            </a:r>
            <a:endParaRPr b="0" lang="fr-FR" sz="135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350" spc="-1" strike="noStrike">
                <a:solidFill>
                  <a:schemeClr val="dk1"/>
                </a:solidFill>
                <a:latin typeface="Arial"/>
                <a:ea typeface="Arial"/>
              </a:rPr>
              <a:t>Fifth level</a:t>
            </a:r>
            <a:endParaRPr b="0" lang="fr-FR" sz="13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33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b="0" lang="fr-FR" sz="33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spcBef>
                <a:spcPts val="748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b="0" lang="fr-F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48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1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b="0" lang="fr-FR" sz="21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Second level</a:t>
            </a:r>
            <a:endParaRPr b="0" lang="fr-FR" sz="18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500" spc="-1" strike="noStrike">
                <a:solidFill>
                  <a:schemeClr val="dk1"/>
                </a:solidFill>
                <a:latin typeface="Arial"/>
                <a:ea typeface="Arial"/>
              </a:rPr>
              <a:t>Third level</a:t>
            </a:r>
            <a:endParaRPr b="0" lang="fr-FR" sz="1500" spc="-1" strike="noStrike">
              <a:solidFill>
                <a:schemeClr val="dk1"/>
              </a:solidFill>
              <a:latin typeface="Arial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350" spc="-1" strike="noStrike">
                <a:solidFill>
                  <a:schemeClr val="dk1"/>
                </a:solidFill>
                <a:latin typeface="Arial"/>
                <a:ea typeface="Arial"/>
              </a:rPr>
              <a:t>Fourth level</a:t>
            </a:r>
            <a:endParaRPr b="0" lang="fr-FR" sz="135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350" spc="-1" strike="noStrike">
                <a:solidFill>
                  <a:schemeClr val="dk1"/>
                </a:solidFill>
                <a:latin typeface="Arial"/>
                <a:ea typeface="Arial"/>
              </a:rPr>
              <a:t>Fifth level</a:t>
            </a:r>
            <a:endParaRPr b="0" lang="fr-FR" sz="13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spcBef>
                <a:spcPts val="748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b="0" lang="fr-F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48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1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b="0" lang="fr-FR" sz="21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Second level</a:t>
            </a:r>
            <a:endParaRPr b="0" lang="fr-FR" sz="18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500" spc="-1" strike="noStrike">
                <a:solidFill>
                  <a:schemeClr val="dk1"/>
                </a:solidFill>
                <a:latin typeface="Arial"/>
                <a:ea typeface="Arial"/>
              </a:rPr>
              <a:t>Third level</a:t>
            </a:r>
            <a:endParaRPr b="0" lang="fr-FR" sz="1500" spc="-1" strike="noStrike">
              <a:solidFill>
                <a:schemeClr val="dk1"/>
              </a:solidFill>
              <a:latin typeface="Arial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350" spc="-1" strike="noStrike">
                <a:solidFill>
                  <a:schemeClr val="dk1"/>
                </a:solidFill>
                <a:latin typeface="Arial"/>
                <a:ea typeface="Arial"/>
              </a:rPr>
              <a:t>Fourth level</a:t>
            </a:r>
            <a:endParaRPr b="0" lang="fr-FR" sz="135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350" spc="-1" strike="noStrike">
                <a:solidFill>
                  <a:schemeClr val="dk1"/>
                </a:solidFill>
                <a:latin typeface="Arial"/>
                <a:ea typeface="Arial"/>
              </a:rPr>
              <a:t>Fifth level</a:t>
            </a:r>
            <a:endParaRPr b="0" lang="fr-FR" sz="13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33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b="0" lang="fr-FR" sz="33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4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b="0" lang="fr-FR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48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b="0" lang="fr-FR" sz="2400" spc="-1" strike="noStrike">
              <a:solidFill>
                <a:schemeClr val="dk1"/>
              </a:solidFill>
              <a:latin typeface="Arial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100" spc="-1" strike="noStrike">
                <a:solidFill>
                  <a:schemeClr val="dk1"/>
                </a:solidFill>
                <a:latin typeface="Arial"/>
                <a:ea typeface="Arial"/>
              </a:rPr>
              <a:t>Second level</a:t>
            </a:r>
            <a:endParaRPr b="0" lang="fr-FR" sz="2100" spc="-1" strike="noStrike">
              <a:solidFill>
                <a:schemeClr val="dk1"/>
              </a:solidFill>
              <a:latin typeface="Arial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Third level</a:t>
            </a:r>
            <a:endParaRPr b="0" lang="fr-FR" sz="1800" spc="-1" strike="noStrike">
              <a:solidFill>
                <a:schemeClr val="dk1"/>
              </a:solidFill>
              <a:latin typeface="Arial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500" spc="-1" strike="noStrike">
                <a:solidFill>
                  <a:schemeClr val="dk1"/>
                </a:solidFill>
                <a:latin typeface="Arial"/>
                <a:ea typeface="Arial"/>
              </a:rPr>
              <a:t>Fourth level</a:t>
            </a:r>
            <a:endParaRPr b="0" lang="fr-FR" sz="1500" spc="-1" strike="noStrike">
              <a:solidFill>
                <a:schemeClr val="dk1"/>
              </a:solidFill>
              <a:latin typeface="Arial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500" spc="-1" strike="noStrike">
                <a:solidFill>
                  <a:schemeClr val="dk1"/>
                </a:solidFill>
                <a:latin typeface="Arial"/>
                <a:ea typeface="Arial"/>
              </a:rPr>
              <a:t>Fifth level</a:t>
            </a:r>
            <a:endParaRPr b="0" lang="fr-FR" sz="15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48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b="0" lang="fr-FR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4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title style</a:t>
            </a:r>
            <a:endParaRPr b="0" lang="fr-FR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chemeClr val="dk1"/>
                </a:solidFill>
                <a:latin typeface="Arial"/>
                <a:ea typeface="Arial"/>
              </a:rPr>
              <a:t>Click icon to add picture</a:t>
            </a:r>
            <a:endParaRPr b="0" lang="fr-FR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48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chemeClr val="dk1"/>
                </a:solidFill>
                <a:latin typeface="Arial"/>
                <a:ea typeface="Arial"/>
              </a:rPr>
              <a:t>Click to edit Master text styles</a:t>
            </a:r>
            <a:endParaRPr b="0" lang="fr-FR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jpe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7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38.png"/><Relationship Id="rId20" Type="http://schemas.openxmlformats.org/officeDocument/2006/relationships/image" Target="../media/image39.png"/><Relationship Id="rId21" Type="http://schemas.openxmlformats.org/officeDocument/2006/relationships/image" Target="../media/image40.png"/><Relationship Id="rId22" Type="http://schemas.openxmlformats.org/officeDocument/2006/relationships/image" Target="../media/image41.png"/><Relationship Id="rId23" Type="http://schemas.openxmlformats.org/officeDocument/2006/relationships/image" Target="../media/image42.png"/><Relationship Id="rId24" Type="http://schemas.openxmlformats.org/officeDocument/2006/relationships/slideLayout" Target="../slideLayouts/slideLayout4.xml"/><Relationship Id="rId2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6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58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65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oleObject" Target="../embeddings/oleObject1.bin"/><Relationship Id="rId3" Type="http://schemas.openxmlformats.org/officeDocument/2006/relationships/image" Target="../media/image67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74.png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1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https://www.automl.org/" TargetMode="External"/><Relationship Id="rId2" Type="http://schemas.openxmlformats.org/officeDocument/2006/relationships/hyperlink" Target="https://maelfabien.github.io/machinelearning/Explorium4/#" TargetMode="External"/><Relationship Id="rId3" Type="http://schemas.openxmlformats.org/officeDocument/2006/relationships/hyperlink" Target="https://towardsdatascience.com/a-novices-guide-to-hyperparameter-optimization-at-scale-bfb4e5047150#e813" TargetMode="External"/><Relationship Id="rId4" Type="http://schemas.openxmlformats.org/officeDocument/2006/relationships/hyperlink" Target="https://www.deepmind.com/blog/population-based-training-of-neural-networks" TargetMode="External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166;p40"/>
          <p:cNvSpPr/>
          <p:nvPr/>
        </p:nvSpPr>
        <p:spPr>
          <a:xfrm>
            <a:off x="11296800" y="6217560"/>
            <a:ext cx="7308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2AE29389-02E2-4EC8-930F-5FCFB8A12CFF}" type="slidenum">
              <a:rPr b="0" lang="fr-FR" sz="1000" spc="-1" strike="noStrike">
                <a:solidFill>
                  <a:srgbClr val="595959"/>
                </a:solidFill>
                <a:latin typeface="Times New Roman"/>
                <a:ea typeface="Times New Roman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167;p40"/>
          <p:cNvSpPr/>
          <p:nvPr/>
        </p:nvSpPr>
        <p:spPr>
          <a:xfrm>
            <a:off x="0" y="2332440"/>
            <a:ext cx="12191040" cy="10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4000" spc="-1" strike="noStrike">
                <a:solidFill>
                  <a:srgbClr val="000000"/>
                </a:solidFill>
                <a:latin typeface="Arial"/>
                <a:ea typeface="Arial"/>
              </a:rPr>
              <a:t>Optimised Deep Learning - Jean Zay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170;p40"/>
          <p:cNvSpPr/>
          <p:nvPr/>
        </p:nvSpPr>
        <p:spPr>
          <a:xfrm>
            <a:off x="1007640" y="3508920"/>
            <a:ext cx="10555200" cy="58320"/>
          </a:xfrm>
          <a:prstGeom prst="rect">
            <a:avLst/>
          </a:prstGeom>
          <a:solidFill>
            <a:srgbClr val="0b5394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160" bIns="29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74" name="Google Shape;171;p40"/>
          <p:cNvSpPr/>
          <p:nvPr/>
        </p:nvSpPr>
        <p:spPr>
          <a:xfrm>
            <a:off x="459720" y="3676320"/>
            <a:ext cx="11396880" cy="97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3000" spc="-1" strike="noStrike">
                <a:solidFill>
                  <a:schemeClr val="dk1"/>
                </a:solidFill>
                <a:latin typeface="Arial"/>
                <a:ea typeface="Arial"/>
              </a:rPr>
              <a:t>Hyperparameter Optimization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204360" cy="2134080"/>
          </a:xfrm>
          <a:prstGeom prst="rect">
            <a:avLst/>
          </a:prstGeom>
          <a:ln w="0">
            <a:noFill/>
          </a:ln>
        </p:spPr>
      </p:pic>
      <p:pic>
        <p:nvPicPr>
          <p:cNvPr id="76" name="" descr=""/>
          <p:cNvPicPr/>
          <p:nvPr/>
        </p:nvPicPr>
        <p:blipFill>
          <a:blip r:embed="rId2"/>
          <a:stretch/>
        </p:blipFill>
        <p:spPr>
          <a:xfrm>
            <a:off x="4645080" y="4836240"/>
            <a:ext cx="2914560" cy="1085400"/>
          </a:xfrm>
          <a:prstGeom prst="rect">
            <a:avLst/>
          </a:prstGeom>
          <a:ln w="0">
            <a:noFill/>
          </a:ln>
        </p:spPr>
      </p:pic>
      <p:pic>
        <p:nvPicPr>
          <p:cNvPr id="77" name="" descr=""/>
          <p:cNvPicPr/>
          <p:nvPr/>
        </p:nvPicPr>
        <p:blipFill>
          <a:blip r:embed="rId3"/>
          <a:stretch/>
        </p:blipFill>
        <p:spPr>
          <a:xfrm>
            <a:off x="10063080" y="6002640"/>
            <a:ext cx="1964160" cy="68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83;p42"/>
          <p:cNvSpPr/>
          <p:nvPr/>
        </p:nvSpPr>
        <p:spPr>
          <a:xfrm rot="5400000">
            <a:off x="2662560" y="-2692800"/>
            <a:ext cx="6867360" cy="12211920"/>
          </a:xfrm>
          <a:prstGeom prst="rtTriangle">
            <a:avLst/>
          </a:prstGeom>
          <a:solidFill>
            <a:srgbClr val="38761d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79" name="Google Shape;184;p42"/>
          <p:cNvSpPr/>
          <p:nvPr/>
        </p:nvSpPr>
        <p:spPr>
          <a:xfrm>
            <a:off x="788760" y="593280"/>
            <a:ext cx="8342640" cy="12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clip" tIns="91440" bIns="9144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lt1"/>
                </a:solidFill>
                <a:latin typeface="Arial"/>
                <a:ea typeface="Arial"/>
              </a:rPr>
              <a:t>HPO = Hyperparameter Optimisation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185;p42"/>
          <p:cNvSpPr/>
          <p:nvPr/>
        </p:nvSpPr>
        <p:spPr>
          <a:xfrm>
            <a:off x="11296800" y="6217560"/>
            <a:ext cx="7308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4FEA42D4-4A82-4541-ABE9-994B3F64D676}" type="slidenum">
              <a:rPr b="0" lang="fr-FR" sz="1000" spc="-1" strike="noStrike">
                <a:solidFill>
                  <a:srgbClr val="595959"/>
                </a:solidFill>
                <a:latin typeface="Times New Roman"/>
                <a:ea typeface="Times New Roman"/>
              </a:rPr>
              <a:t>2</a:t>
            </a:fld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Google Shape;186;p42"/>
          <p:cNvSpPr/>
          <p:nvPr/>
        </p:nvSpPr>
        <p:spPr>
          <a:xfrm>
            <a:off x="6707520" y="3093480"/>
            <a:ext cx="5320080" cy="25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Hyperparameters ◂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HPO ◂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spcBef>
                <a:spcPts val="1196"/>
              </a:spcBef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spcBef>
                <a:spcPts val="1196"/>
              </a:spcBef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3657600" indent="149760" algn="ctr" defTabSz="914400">
              <a:lnSpc>
                <a:spcPct val="114000"/>
              </a:lnSpc>
              <a:spcBef>
                <a:spcPts val="1196"/>
              </a:spcBef>
              <a:tabLst>
                <a:tab algn="l" pos="0"/>
              </a:tabLst>
            </a:pPr>
            <a:r>
              <a:rPr b="0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 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sldNum" idx="37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title"/>
          </p:nvPr>
        </p:nvSpPr>
        <p:spPr>
          <a:xfrm>
            <a:off x="0" y="-5040"/>
            <a:ext cx="2771280" cy="47556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600" spc="-1" strike="noStrike">
                <a:solidFill>
                  <a:schemeClr val="lt1"/>
                </a:solidFill>
                <a:latin typeface="Arial"/>
                <a:ea typeface="Arial"/>
              </a:rPr>
              <a:t>Hyperparameters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85" name=""/>
          <p:cNvGrpSpPr/>
          <p:nvPr/>
        </p:nvGrpSpPr>
        <p:grpSpPr>
          <a:xfrm>
            <a:off x="252360" y="720000"/>
            <a:ext cx="11663640" cy="640080"/>
            <a:chOff x="252360" y="720000"/>
            <a:chExt cx="11663640" cy="640080"/>
          </a:xfrm>
        </p:grpSpPr>
        <p:sp>
          <p:nvSpPr>
            <p:cNvPr id="86" name=""/>
            <p:cNvSpPr/>
            <p:nvPr/>
          </p:nvSpPr>
          <p:spPr>
            <a:xfrm>
              <a:off x="288360" y="720000"/>
              <a:ext cx="11627640" cy="63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horzOverflow="overflow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dk1"/>
                  </a:solidFill>
                  <a:latin typeface="Arial"/>
                  <a:ea typeface="Arial"/>
                </a:rPr>
                <a:t>In machine learning, a hyperparameter is </a:t>
              </a:r>
              <a:r>
                <a:rPr b="1" lang="fr-FR" sz="1800" spc="-1" strike="noStrike">
                  <a:solidFill>
                    <a:schemeClr val="dk1"/>
                  </a:solidFill>
                  <a:latin typeface="Arial"/>
                  <a:ea typeface="Arial"/>
                </a:rPr>
                <a:t>a parameter whose value is used to control the learning process</a:t>
              </a:r>
              <a:r>
                <a:rPr b="0" lang="fr-FR" sz="1800" spc="-1" strike="noStrike">
                  <a:solidFill>
                    <a:schemeClr val="dk1"/>
                  </a:solidFill>
                  <a:latin typeface="Arial"/>
                  <a:ea typeface="Arial"/>
                </a:rPr>
                <a:t>. 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dk1"/>
                  </a:solidFill>
                  <a:latin typeface="Arial"/>
                  <a:ea typeface="Arial"/>
                </a:rPr>
                <a:t>By contrast, the values of other parameters (typically node weights) are derived via training. 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252360" y="781920"/>
              <a:ext cx="45360" cy="578160"/>
            </a:xfrm>
            <a:prstGeom prst="rect">
              <a:avLst/>
            </a:prstGeom>
            <a:solidFill>
              <a:srgbClr val="3876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8" name=""/>
          <p:cNvSpPr/>
          <p:nvPr/>
        </p:nvSpPr>
        <p:spPr>
          <a:xfrm>
            <a:off x="3270240" y="2336760"/>
            <a:ext cx="2690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Arial"/>
              </a:rPr>
              <a:t>Hyperparameters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7758000" y="2336760"/>
            <a:ext cx="1843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Arial"/>
              </a:rPr>
              <a:t>Parameters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7923600" y="2929680"/>
            <a:ext cx="1512360" cy="1458000"/>
          </a:xfrm>
          <a:prstGeom prst="rect">
            <a:avLst/>
          </a:prstGeom>
          <a:ln w="0">
            <a:noFill/>
          </a:ln>
        </p:spPr>
      </p:pic>
      <p:pic>
        <p:nvPicPr>
          <p:cNvPr id="91" name="" descr=""/>
          <p:cNvPicPr/>
          <p:nvPr/>
        </p:nvPicPr>
        <p:blipFill>
          <a:blip r:embed="rId2"/>
          <a:stretch/>
        </p:blipFill>
        <p:spPr>
          <a:xfrm>
            <a:off x="2229840" y="2929680"/>
            <a:ext cx="1576080" cy="1519560"/>
          </a:xfrm>
          <a:prstGeom prst="rect">
            <a:avLst/>
          </a:prstGeom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3"/>
          <a:stretch/>
        </p:blipFill>
        <p:spPr>
          <a:xfrm>
            <a:off x="3919320" y="2929680"/>
            <a:ext cx="1392480" cy="1342440"/>
          </a:xfrm>
          <a:prstGeom prst="rect">
            <a:avLst/>
          </a:prstGeom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4"/>
          <a:stretch/>
        </p:blipFill>
        <p:spPr>
          <a:xfrm>
            <a:off x="5413680" y="2929680"/>
            <a:ext cx="1519560" cy="1465200"/>
          </a:xfrm>
          <a:prstGeom prst="rect">
            <a:avLst/>
          </a:prstGeom>
          <a:ln w="0">
            <a:noFill/>
          </a:ln>
        </p:spPr>
      </p:pic>
      <p:cxnSp>
        <p:nvCxnSpPr>
          <p:cNvPr id="94" name=""/>
          <p:cNvCxnSpPr/>
          <p:nvPr/>
        </p:nvCxnSpPr>
        <p:spPr>
          <a:xfrm>
            <a:off x="7240320" y="2147760"/>
            <a:ext cx="360" cy="2653920"/>
          </a:xfrm>
          <a:prstGeom prst="straightConnector1">
            <a:avLst/>
          </a:prstGeom>
          <a:ln w="12699">
            <a:solidFill>
              <a:srgbClr val="38761d"/>
            </a:solidFill>
            <a:prstDash val="lgDashDot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title"/>
          </p:nvPr>
        </p:nvSpPr>
        <p:spPr>
          <a:xfrm>
            <a:off x="0" y="-5040"/>
            <a:ext cx="5613840" cy="47556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txBody>
          <a:bodyPr numCol="1" spcCol="0" lIns="91440" rIns="91440" tIns="45720" bIns="45720" anchor="ctr">
            <a:norm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600" spc="-1" strike="noStrike">
                <a:solidFill>
                  <a:schemeClr val="lt1"/>
                </a:solidFill>
                <a:latin typeface="Arial"/>
                <a:ea typeface="Arial"/>
              </a:rPr>
              <a:t>HPO : Hyperparameter Optimisation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318600" y="834840"/>
            <a:ext cx="116013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Machine learning algorithms are highly configurable by their hyperparameters.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These parameters often substantially influence</a:t>
            </a: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 the complexity, behavior, speed as well as other aspects of the learner, and their values must be selected with care in order to achieve optimal performance.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Human trial-and-error to select these values is time-consuming, often somewhat biased, error-prone and computationally irreproducible.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7378560" y="2558880"/>
            <a:ext cx="4541400" cy="331596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/>
          <p:nvPr/>
        </p:nvSpPr>
        <p:spPr>
          <a:xfrm>
            <a:off x="10894680" y="2624760"/>
            <a:ext cx="10256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000" spc="-1" strike="noStrike">
                <a:solidFill>
                  <a:schemeClr val="dk1"/>
                </a:solidFill>
                <a:latin typeface="Arial"/>
                <a:ea typeface="Arial"/>
              </a:rPr>
              <a:t>Model Architecture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8223480" y="2899440"/>
            <a:ext cx="102852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000" spc="-1" strike="noStrike">
                <a:solidFill>
                  <a:schemeClr val="dk1"/>
                </a:solidFill>
                <a:latin typeface="Arial"/>
                <a:ea typeface="Arial"/>
              </a:rPr>
              <a:t>Dataset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7855200" y="4926240"/>
            <a:ext cx="126252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000" spc="-1" strike="noStrike">
                <a:solidFill>
                  <a:schemeClr val="dk1"/>
                </a:solidFill>
                <a:latin typeface="Arial"/>
                <a:ea typeface="Arial"/>
              </a:rPr>
              <a:t>Training on JZ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0642680" y="4849920"/>
            <a:ext cx="127728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2000" spc="-1" strike="noStrike">
                <a:solidFill>
                  <a:schemeClr val="dk1"/>
                </a:solidFill>
                <a:latin typeface="Arial"/>
                <a:ea typeface="Arial"/>
              </a:rPr>
              <a:t>HPO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205200" y="907200"/>
            <a:ext cx="67680" cy="133776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205200" y="3277440"/>
            <a:ext cx="3090240" cy="196884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3"/>
          <a:stretch/>
        </p:blipFill>
        <p:spPr>
          <a:xfrm>
            <a:off x="3890520" y="2899440"/>
            <a:ext cx="2832480" cy="282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Num" idx="4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title"/>
          </p:nvPr>
        </p:nvSpPr>
        <p:spPr>
          <a:xfrm>
            <a:off x="0" y="-5040"/>
            <a:ext cx="4658760" cy="47556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600" spc="-1" strike="noStrike">
                <a:solidFill>
                  <a:schemeClr val="lt1"/>
                </a:solidFill>
                <a:latin typeface="Arial"/>
                <a:ea typeface="Arial"/>
              </a:rPr>
              <a:t>HPO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108" name=""/>
          <p:cNvGraphicFramePr/>
          <p:nvPr/>
        </p:nvGraphicFramePr>
        <p:xfrm>
          <a:off x="819000" y="3489480"/>
          <a:ext cx="4550760" cy="2572200"/>
        </p:xfrm>
        <a:graphic>
          <a:graphicData uri="http://schemas.openxmlformats.org/presentationml/2006/ole">
            <p:oleObj progId="asc.{DB38923B-A8C0-4DE9-8AEE-A61BB5C901A5}" r:id="rId1" spid="">
              <p:embed/>
              <p:pic>
                <p:nvPicPr>
                  <p:cNvPr id="109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819000" y="3489480"/>
                    <a:ext cx="4550760" cy="25722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10" name="" descr=""/>
          <p:cNvPicPr/>
          <p:nvPr/>
        </p:nvPicPr>
        <p:blipFill>
          <a:blip r:embed="rId3"/>
          <a:stretch/>
        </p:blipFill>
        <p:spPr>
          <a:xfrm>
            <a:off x="6871680" y="1161000"/>
            <a:ext cx="3621960" cy="208620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4"/>
          <a:stretch/>
        </p:blipFill>
        <p:spPr>
          <a:xfrm>
            <a:off x="1833120" y="1161000"/>
            <a:ext cx="2522520" cy="1891800"/>
          </a:xfrm>
          <a:prstGeom prst="rect">
            <a:avLst/>
          </a:prstGeom>
          <a:ln w="0">
            <a:noFill/>
          </a:ln>
        </p:spPr>
      </p:pic>
      <p:sp>
        <p:nvSpPr>
          <p:cNvPr id="112" name=""/>
          <p:cNvSpPr/>
          <p:nvPr/>
        </p:nvSpPr>
        <p:spPr>
          <a:xfrm>
            <a:off x="855720" y="6062040"/>
            <a:ext cx="447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fr-FR" sz="1200" spc="-1" strike="noStrike">
                <a:solidFill>
                  <a:schemeClr val="dk1"/>
                </a:solidFill>
                <a:latin typeface="Arial"/>
                <a:ea typeface="Arial"/>
              </a:rPr>
              <a:t>Hyperparameter Optimization == Bi-Level optimization problem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5"/>
          <a:stretch/>
        </p:blipFill>
        <p:spPr>
          <a:xfrm>
            <a:off x="6929280" y="3984120"/>
            <a:ext cx="1440000" cy="159804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6"/>
          <a:stretch/>
        </p:blipFill>
        <p:spPr>
          <a:xfrm>
            <a:off x="8848800" y="3984120"/>
            <a:ext cx="1788480" cy="158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83;p42"/>
          <p:cNvSpPr/>
          <p:nvPr/>
        </p:nvSpPr>
        <p:spPr>
          <a:xfrm rot="5400000">
            <a:off x="2662200" y="-2693160"/>
            <a:ext cx="6867360" cy="12211920"/>
          </a:xfrm>
          <a:prstGeom prst="rtTriangle">
            <a:avLst/>
          </a:prstGeom>
          <a:solidFill>
            <a:srgbClr val="38761d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116" name="Google Shape;184;p42"/>
          <p:cNvSpPr/>
          <p:nvPr/>
        </p:nvSpPr>
        <p:spPr>
          <a:xfrm>
            <a:off x="788760" y="593280"/>
            <a:ext cx="8342640" cy="12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clip" tIns="91440" bIns="9144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lt1"/>
                </a:solidFill>
                <a:latin typeface="Arial"/>
                <a:ea typeface="Arial"/>
              </a:rPr>
              <a:t>Search Algorithms / Samplers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185;p42"/>
          <p:cNvSpPr/>
          <p:nvPr/>
        </p:nvSpPr>
        <p:spPr>
          <a:xfrm>
            <a:off x="11296800" y="6217560"/>
            <a:ext cx="7308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DA484418-C1E6-4F8A-8447-61E48BA68DEB}" type="slidenum">
              <a:rPr b="0" lang="fr-FR" sz="1000" spc="-1" strike="noStrike">
                <a:solidFill>
                  <a:srgbClr val="595959"/>
                </a:solidFill>
                <a:latin typeface="Times New Roman"/>
                <a:ea typeface="Times New Roman"/>
              </a:rPr>
              <a:t>6</a:t>
            </a:fld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Google Shape;186;p42"/>
          <p:cNvSpPr/>
          <p:nvPr/>
        </p:nvSpPr>
        <p:spPr>
          <a:xfrm>
            <a:off x="5785560" y="2326680"/>
            <a:ext cx="6242400" cy="38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r>
              <a:rPr b="1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Basic </a:t>
            </a:r>
            <a:r>
              <a:rPr b="0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◂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Manual, Grid Search, Random Search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r>
              <a:rPr b="1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Bayesian Optimisation ◂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Tree-structured Parzen Estimator, Gaussian Process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r>
              <a:rPr b="1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Heuristic ◂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spcBef>
                <a:spcPts val="1196"/>
              </a:spcBef>
              <a:tabLst>
                <a:tab algn="l" pos="0"/>
              </a:tabLst>
            </a:pPr>
            <a:r>
              <a:rPr b="0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Genetic  Algorithm, Particle Swarm Optimization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spcBef>
                <a:spcPts val="1196"/>
              </a:spcBef>
              <a:tabLst>
                <a:tab algn="l" pos="0"/>
              </a:tabLst>
            </a:pPr>
            <a:r>
              <a:rPr b="1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Gradient-based Optimization ◂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spcBef>
                <a:spcPts val="1196"/>
              </a:spcBef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3657600" indent="149760" algn="ctr" defTabSz="914400">
              <a:lnSpc>
                <a:spcPct val="114000"/>
              </a:lnSpc>
              <a:spcBef>
                <a:spcPts val="1196"/>
              </a:spcBef>
              <a:tabLst>
                <a:tab algn="l" pos="0"/>
              </a:tabLst>
            </a:pPr>
            <a:r>
              <a:rPr b="0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 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sldNum" idx="41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0" y="-5040"/>
            <a:ext cx="4658760" cy="47556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txBody>
          <a:bodyPr numCol="1" spcCol="0" lIns="91440" rIns="91440" tIns="45720" bIns="45720" anchor="ctr">
            <a:normAutofit fontScale="96377"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600" spc="-1" strike="noStrike">
                <a:solidFill>
                  <a:schemeClr val="lt1"/>
                </a:solidFill>
                <a:latin typeface="Arial"/>
                <a:ea typeface="Arial"/>
              </a:rPr>
              <a:t>Basic : Grid &amp; Random Search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6455880" y="4671720"/>
            <a:ext cx="51649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261720" indent="-26172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Independent tests (which can be parallelized) which test a combination of hyperparameters.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61720" indent="-26172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Very costly in resources and no guarantee of improved results.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61720" indent="-26172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Random search is better for high dimensional space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3" name=""/>
          <p:cNvGrpSpPr/>
          <p:nvPr/>
        </p:nvGrpSpPr>
        <p:grpSpPr>
          <a:xfrm>
            <a:off x="6526440" y="1279440"/>
            <a:ext cx="4856400" cy="2760120"/>
            <a:chOff x="6526440" y="1279440"/>
            <a:chExt cx="4856400" cy="2760120"/>
          </a:xfrm>
        </p:grpSpPr>
        <p:sp>
          <p:nvSpPr>
            <p:cNvPr id="124" name=""/>
            <p:cNvSpPr/>
            <p:nvPr/>
          </p:nvSpPr>
          <p:spPr>
            <a:xfrm>
              <a:off x="7305840" y="2289240"/>
              <a:ext cx="4077000" cy="845640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85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7305840" y="3193920"/>
              <a:ext cx="4077000" cy="845640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85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" name=""/>
            <p:cNvSpPr/>
            <p:nvPr/>
          </p:nvSpPr>
          <p:spPr>
            <a:xfrm>
              <a:off x="7305840" y="1382400"/>
              <a:ext cx="4077000" cy="845640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85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27" name="" descr=""/>
            <p:cNvPicPr/>
            <p:nvPr/>
          </p:nvPicPr>
          <p:blipFill>
            <a:blip r:embed="rId1"/>
            <a:stretch/>
          </p:blipFill>
          <p:spPr>
            <a:xfrm>
              <a:off x="6526440" y="1279440"/>
              <a:ext cx="3996720" cy="2760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8" name="" descr=""/>
            <p:cNvPicPr/>
            <p:nvPr/>
          </p:nvPicPr>
          <p:blipFill>
            <a:blip r:embed="rId2"/>
            <a:stretch/>
          </p:blipFill>
          <p:spPr>
            <a:xfrm>
              <a:off x="10811160" y="1622160"/>
              <a:ext cx="396360" cy="427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9" name="" descr=""/>
            <p:cNvPicPr/>
            <p:nvPr/>
          </p:nvPicPr>
          <p:blipFill>
            <a:blip r:embed="rId3"/>
            <a:stretch/>
          </p:blipFill>
          <p:spPr>
            <a:xfrm>
              <a:off x="10811160" y="2498400"/>
              <a:ext cx="396360" cy="427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0" name="" descr=""/>
            <p:cNvPicPr/>
            <p:nvPr/>
          </p:nvPicPr>
          <p:blipFill>
            <a:blip r:embed="rId4"/>
            <a:stretch/>
          </p:blipFill>
          <p:spPr>
            <a:xfrm>
              <a:off x="10811880" y="3403080"/>
              <a:ext cx="396360" cy="4273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1" name=""/>
          <p:cNvGrpSpPr/>
          <p:nvPr/>
        </p:nvGrpSpPr>
        <p:grpSpPr>
          <a:xfrm>
            <a:off x="145800" y="1032840"/>
            <a:ext cx="5872320" cy="5130360"/>
            <a:chOff x="145800" y="1032840"/>
            <a:chExt cx="5872320" cy="5130360"/>
          </a:xfrm>
        </p:grpSpPr>
        <p:pic>
          <p:nvPicPr>
            <p:cNvPr id="132" name="" descr=""/>
            <p:cNvPicPr/>
            <p:nvPr/>
          </p:nvPicPr>
          <p:blipFill>
            <a:blip r:embed="rId5"/>
            <a:stretch/>
          </p:blipFill>
          <p:spPr>
            <a:xfrm>
              <a:off x="401760" y="1032840"/>
              <a:ext cx="5520600" cy="3012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3" name="" descr=""/>
            <p:cNvPicPr/>
            <p:nvPr/>
          </p:nvPicPr>
          <p:blipFill>
            <a:blip r:embed="rId6"/>
            <a:stretch/>
          </p:blipFill>
          <p:spPr>
            <a:xfrm>
              <a:off x="145800" y="4227120"/>
              <a:ext cx="2856240" cy="1936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4" name="" descr=""/>
            <p:cNvPicPr/>
            <p:nvPr/>
          </p:nvPicPr>
          <p:blipFill>
            <a:blip r:embed="rId7"/>
            <a:stretch/>
          </p:blipFill>
          <p:spPr>
            <a:xfrm>
              <a:off x="3161880" y="4227120"/>
              <a:ext cx="2856240" cy="193608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sp>
        <p:nvSpPr>
          <p:cNvPr id="136" name="PlaceHolder 1"/>
          <p:cNvSpPr>
            <a:spLocks noGrp="1"/>
          </p:cNvSpPr>
          <p:nvPr>
            <p:ph type="sldNum" idx="4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title"/>
          </p:nvPr>
        </p:nvSpPr>
        <p:spPr>
          <a:xfrm>
            <a:off x="0" y="-1080"/>
            <a:ext cx="4981320" cy="47556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txBody>
          <a:bodyPr numCol="1" spcCol="0" lIns="91440" rIns="91440" tIns="45720" bIns="45720" anchor="ctr">
            <a:normAutofit fontScale="93346"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600" spc="-1" strike="noStrike">
                <a:solidFill>
                  <a:schemeClr val="lt1"/>
                </a:solidFill>
                <a:latin typeface="Arial"/>
                <a:ea typeface="Arial"/>
              </a:rPr>
              <a:t>Bayesian Optimization : TPE &amp; GP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2"/>
          <a:stretch/>
        </p:blipFill>
        <p:spPr>
          <a:xfrm>
            <a:off x="241920" y="630000"/>
            <a:ext cx="6680520" cy="1302480"/>
          </a:xfrm>
          <a:prstGeom prst="rect">
            <a:avLst/>
          </a:prstGeom>
          <a:ln w="0">
            <a:noFill/>
          </a:ln>
        </p:spPr>
      </p:pic>
      <p:sp>
        <p:nvSpPr>
          <p:cNvPr id="139" name=""/>
          <p:cNvSpPr/>
          <p:nvPr/>
        </p:nvSpPr>
        <p:spPr>
          <a:xfrm>
            <a:off x="477360" y="4119480"/>
            <a:ext cx="597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Expected metric score according to Hyper-parameters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241920" y="6052680"/>
            <a:ext cx="655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Maximize Acquisition function e.g. Expected Improvement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7124760" y="630000"/>
            <a:ext cx="49017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261720" indent="-26172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Tree Parzen Estimator / Gaussian Process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61720" indent="-26172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Sequential but allows to quickly find the global optimum.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61720" indent="-26172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Proposes a new set of hyper parameters based on the scores obtained by the previous ones tested.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3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4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5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45" name="" descr=""/>
          <p:cNvPicPr/>
          <p:nvPr/>
        </p:nvPicPr>
        <p:blipFill>
          <a:blip r:embed="rId6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46" name="" descr=""/>
          <p:cNvPicPr/>
          <p:nvPr/>
        </p:nvPicPr>
        <p:blipFill>
          <a:blip r:embed="rId7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47" name="" descr=""/>
          <p:cNvPicPr/>
          <p:nvPr/>
        </p:nvPicPr>
        <p:blipFill>
          <a:blip r:embed="rId8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48" name="" descr=""/>
          <p:cNvPicPr/>
          <p:nvPr/>
        </p:nvPicPr>
        <p:blipFill>
          <a:blip r:embed="rId9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49" name="" descr=""/>
          <p:cNvPicPr/>
          <p:nvPr/>
        </p:nvPicPr>
        <p:blipFill>
          <a:blip r:embed="rId10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50" name="" descr=""/>
          <p:cNvPicPr/>
          <p:nvPr/>
        </p:nvPicPr>
        <p:blipFill>
          <a:blip r:embed="rId11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51" name="" descr=""/>
          <p:cNvPicPr/>
          <p:nvPr/>
        </p:nvPicPr>
        <p:blipFill>
          <a:blip r:embed="rId12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52" name="" descr=""/>
          <p:cNvPicPr/>
          <p:nvPr/>
        </p:nvPicPr>
        <p:blipFill>
          <a:blip r:embed="rId13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53" name="" descr=""/>
          <p:cNvPicPr/>
          <p:nvPr/>
        </p:nvPicPr>
        <p:blipFill>
          <a:blip r:embed="rId14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15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55" name="" descr=""/>
          <p:cNvPicPr/>
          <p:nvPr/>
        </p:nvPicPr>
        <p:blipFill>
          <a:blip r:embed="rId16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56" name="" descr=""/>
          <p:cNvPicPr/>
          <p:nvPr/>
        </p:nvPicPr>
        <p:blipFill>
          <a:blip r:embed="rId17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57" name="" descr=""/>
          <p:cNvPicPr/>
          <p:nvPr/>
        </p:nvPicPr>
        <p:blipFill>
          <a:blip r:embed="rId18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58" name="" descr=""/>
          <p:cNvPicPr/>
          <p:nvPr/>
        </p:nvPicPr>
        <p:blipFill>
          <a:blip r:embed="rId19"/>
          <a:stretch/>
        </p:blipFill>
        <p:spPr>
          <a:xfrm>
            <a:off x="6793920" y="2602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59" name="" descr=""/>
          <p:cNvPicPr/>
          <p:nvPr/>
        </p:nvPicPr>
        <p:blipFill>
          <a:blip r:embed="rId20"/>
          <a:stretch/>
        </p:blipFill>
        <p:spPr>
          <a:xfrm>
            <a:off x="6793920" y="2593440"/>
            <a:ext cx="5098680" cy="3641760"/>
          </a:xfrm>
          <a:prstGeom prst="rect">
            <a:avLst/>
          </a:prstGeom>
          <a:ln w="0">
            <a:noFill/>
          </a:ln>
        </p:spPr>
      </p:pic>
      <p:pic>
        <p:nvPicPr>
          <p:cNvPr id="160" name="" descr=""/>
          <p:cNvPicPr/>
          <p:nvPr/>
        </p:nvPicPr>
        <p:blipFill>
          <a:blip r:embed="rId21"/>
          <a:stretch/>
        </p:blipFill>
        <p:spPr>
          <a:xfrm>
            <a:off x="1134000" y="1932840"/>
            <a:ext cx="4659840" cy="2124000"/>
          </a:xfrm>
          <a:prstGeom prst="rect">
            <a:avLst/>
          </a:prstGeom>
          <a:ln w="0">
            <a:noFill/>
          </a:ln>
        </p:spPr>
      </p:pic>
      <p:grpSp>
        <p:nvGrpSpPr>
          <p:cNvPr id="161" name=""/>
          <p:cNvGrpSpPr/>
          <p:nvPr/>
        </p:nvGrpSpPr>
        <p:grpSpPr>
          <a:xfrm>
            <a:off x="1273320" y="4834080"/>
            <a:ext cx="3680640" cy="985680"/>
            <a:chOff x="1273320" y="4834080"/>
            <a:chExt cx="3680640" cy="985680"/>
          </a:xfrm>
        </p:grpSpPr>
        <p:pic>
          <p:nvPicPr>
            <p:cNvPr id="162" name="" descr=""/>
            <p:cNvPicPr/>
            <p:nvPr/>
          </p:nvPicPr>
          <p:blipFill>
            <a:blip r:embed="rId22"/>
            <a:stretch/>
          </p:blipFill>
          <p:spPr>
            <a:xfrm>
              <a:off x="1273320" y="4834080"/>
              <a:ext cx="563040" cy="291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3" name="" descr=""/>
            <p:cNvPicPr/>
            <p:nvPr/>
          </p:nvPicPr>
          <p:blipFill>
            <a:blip r:embed="rId23"/>
            <a:stretch/>
          </p:blipFill>
          <p:spPr>
            <a:xfrm>
              <a:off x="1555200" y="4979520"/>
              <a:ext cx="3398760" cy="84024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title"/>
          </p:nvPr>
        </p:nvSpPr>
        <p:spPr>
          <a:xfrm>
            <a:off x="0" y="-1080"/>
            <a:ext cx="4559040" cy="47556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600" spc="-1" strike="noStrike">
                <a:solidFill>
                  <a:schemeClr val="lt1"/>
                </a:solidFill>
                <a:latin typeface="Arial"/>
                <a:ea typeface="Arial"/>
              </a:rPr>
              <a:t>Gradient-based optimization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4896360" y="5567400"/>
            <a:ext cx="251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anchor="t">
            <a:spAutoFit/>
          </a:bodyPr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High </a:t>
            </a:r>
            <a:r>
              <a:rPr b="0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dimensionality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Bi-level optimisation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1"/>
          <a:srcRect l="0" t="2733" r="0" b="0"/>
          <a:stretch/>
        </p:blipFill>
        <p:spPr>
          <a:xfrm>
            <a:off x="1359720" y="757800"/>
            <a:ext cx="9401400" cy="3008520"/>
          </a:xfrm>
          <a:prstGeom prst="rect">
            <a:avLst/>
          </a:prstGeom>
          <a:ln w="0">
            <a:noFill/>
          </a:ln>
        </p:spPr>
      </p:pic>
      <p:sp>
        <p:nvSpPr>
          <p:cNvPr id="168" name=""/>
          <p:cNvSpPr/>
          <p:nvPr/>
        </p:nvSpPr>
        <p:spPr>
          <a:xfrm>
            <a:off x="2804040" y="3951360"/>
            <a:ext cx="651276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fr-FR" sz="1400" spc="-1" strike="noStrike">
                <a:solidFill>
                  <a:schemeClr val="dk1"/>
                </a:solidFill>
                <a:latin typeface="Arial"/>
                <a:ea typeface="Arial"/>
              </a:rPr>
              <a:t>Optimizing Millions of Hyperparameters by Implicit Differentiation</a:t>
            </a:r>
            <a:r>
              <a:rPr b="0" lang="fr-FR" sz="1400" spc="-1" strike="noStrike">
                <a:solidFill>
                  <a:schemeClr val="dk1"/>
                </a:solidFill>
                <a:latin typeface="Arial"/>
                <a:ea typeface="Arial"/>
              </a:rPr>
              <a:t> (https://arxiv.org/pdf/1911.02590.pdf)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83;p42"/>
          <p:cNvSpPr/>
          <p:nvPr/>
        </p:nvSpPr>
        <p:spPr>
          <a:xfrm rot="5400000">
            <a:off x="2662200" y="-2693160"/>
            <a:ext cx="6867360" cy="12211920"/>
          </a:xfrm>
          <a:prstGeom prst="rtTriangle">
            <a:avLst/>
          </a:prstGeom>
          <a:solidFill>
            <a:srgbClr val="38761d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170" name="Google Shape;184;p42"/>
          <p:cNvSpPr/>
          <p:nvPr/>
        </p:nvSpPr>
        <p:spPr>
          <a:xfrm>
            <a:off x="788760" y="593280"/>
            <a:ext cx="8342640" cy="12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clip" tIns="91440" bIns="9144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lt1"/>
                </a:solidFill>
                <a:latin typeface="Arial"/>
                <a:ea typeface="Arial"/>
              </a:rPr>
              <a:t>Schedulers Algorithms / Pruners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185;p42"/>
          <p:cNvSpPr/>
          <p:nvPr/>
        </p:nvSpPr>
        <p:spPr>
          <a:xfrm>
            <a:off x="11296800" y="6217560"/>
            <a:ext cx="7308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46771DC7-855B-4A31-9199-F8BBC6493FD7}" type="slidenum">
              <a:rPr b="0" lang="fr-FR" sz="1000" spc="-1" strike="noStrike">
                <a:solidFill>
                  <a:srgbClr val="595959"/>
                </a:solidFill>
                <a:latin typeface="Times New Roman"/>
                <a:ea typeface="Times New Roman"/>
              </a:rPr>
              <a:t>10</a:t>
            </a:fld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Google Shape;186;p42"/>
          <p:cNvSpPr/>
          <p:nvPr/>
        </p:nvSpPr>
        <p:spPr>
          <a:xfrm>
            <a:off x="6707880" y="2326680"/>
            <a:ext cx="5320080" cy="38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Early Stopping ◂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SHA/ASHA ◂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HyperBand ◂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spcBef>
                <a:spcPts val="1196"/>
              </a:spcBef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spcBef>
                <a:spcPts val="1196"/>
              </a:spcBef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3657600" indent="149760" algn="ctr" defTabSz="914400">
              <a:lnSpc>
                <a:spcPct val="114000"/>
              </a:lnSpc>
              <a:spcBef>
                <a:spcPts val="1196"/>
              </a:spcBef>
              <a:tabLst>
                <a:tab algn="l" pos="0"/>
              </a:tabLst>
            </a:pPr>
            <a:r>
              <a:rPr b="0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 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sldNum" idx="45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Num" idx="4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title"/>
          </p:nvPr>
        </p:nvSpPr>
        <p:spPr>
          <a:xfrm>
            <a:off x="0" y="-6120"/>
            <a:ext cx="7220880" cy="47556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txBody>
          <a:bodyPr numCol="1" spcCol="0" lIns="91440" rIns="91440" tIns="45720" bIns="45720" anchor="ctr">
            <a:norm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600" spc="-1" strike="noStrike">
                <a:solidFill>
                  <a:schemeClr val="lt1"/>
                </a:solidFill>
                <a:latin typeface="Arial"/>
                <a:ea typeface="Arial"/>
              </a:rPr>
              <a:t>Early Stopping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1"/>
          <a:stretch/>
        </p:blipFill>
        <p:spPr>
          <a:xfrm>
            <a:off x="0" y="1290600"/>
            <a:ext cx="8055360" cy="4659840"/>
          </a:xfrm>
          <a:prstGeom prst="rect">
            <a:avLst/>
          </a:prstGeom>
          <a:ln w="0">
            <a:noFill/>
          </a:ln>
        </p:spPr>
      </p:pic>
      <p:sp>
        <p:nvSpPr>
          <p:cNvPr id="177" name=""/>
          <p:cNvSpPr/>
          <p:nvPr/>
        </p:nvSpPr>
        <p:spPr>
          <a:xfrm>
            <a:off x="7221240" y="2669040"/>
            <a:ext cx="46436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Easy to implement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Save ressources &amp; make automatic selection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Can be with acc%, time%, rank%, etc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title"/>
          </p:nvPr>
        </p:nvSpPr>
        <p:spPr>
          <a:xfrm>
            <a:off x="0" y="-6120"/>
            <a:ext cx="7220880" cy="47556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txBody>
          <a:bodyPr numCol="1" spcCol="0" lIns="91440" rIns="91440" tIns="45720" bIns="45720" anchor="ctr">
            <a:norm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600" spc="-1" strike="noStrike">
                <a:solidFill>
                  <a:schemeClr val="lt1"/>
                </a:solidFill>
                <a:latin typeface="Arial"/>
                <a:ea typeface="Arial"/>
              </a:rPr>
              <a:t>SHA : Successive Halving Algorithm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261720" y="5806800"/>
            <a:ext cx="7286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For sequentials trials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Works well with small or medium model -&gt; Trials must be fast !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1"/>
          <a:stretch/>
        </p:blipFill>
        <p:spPr>
          <a:xfrm>
            <a:off x="167400" y="1222200"/>
            <a:ext cx="5825160" cy="38714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82" name=""/>
          <p:cNvGraphicFramePr/>
          <p:nvPr/>
        </p:nvGraphicFramePr>
        <p:xfrm>
          <a:off x="6228000" y="627120"/>
          <a:ext cx="5632200" cy="5420880"/>
        </p:xfrm>
        <a:graphic>
          <a:graphicData uri="http://schemas.openxmlformats.org/presentationml/2006/ole">
            <p:oleObj progId="asc.{DB38923B-A8C0-4DE9-8AEE-A61BB5C901A5}" r:id="rId2" spid="">
              <p:embed/>
              <p:pic>
                <p:nvPicPr>
                  <p:cNvPr id="183" name="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28000" y="627120"/>
                    <a:ext cx="5632200" cy="54208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title"/>
          </p:nvPr>
        </p:nvSpPr>
        <p:spPr>
          <a:xfrm>
            <a:off x="-5400" y="-3600"/>
            <a:ext cx="1375200" cy="47556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txBody>
          <a:bodyPr numCol="1" spcCol="0" lIns="91440" rIns="91440" tIns="45720" bIns="45720" anchor="ctr">
            <a:norm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600" spc="-1" strike="noStrike">
                <a:solidFill>
                  <a:schemeClr val="lt1"/>
                </a:solidFill>
                <a:latin typeface="Arial"/>
                <a:ea typeface="Arial"/>
              </a:rPr>
              <a:t>ASHA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-5400" y="1168560"/>
            <a:ext cx="12191760" cy="4063680"/>
          </a:xfrm>
          <a:prstGeom prst="rect">
            <a:avLst/>
          </a:prstGeom>
          <a:ln w="0">
            <a:noFill/>
          </a:ln>
        </p:spPr>
      </p:pic>
      <p:pic>
        <p:nvPicPr>
          <p:cNvPr id="187" name="" descr=""/>
          <p:cNvPicPr/>
          <p:nvPr/>
        </p:nvPicPr>
        <p:blipFill>
          <a:blip r:embed="rId2"/>
          <a:stretch/>
        </p:blipFill>
        <p:spPr>
          <a:xfrm>
            <a:off x="-5400" y="1168560"/>
            <a:ext cx="12191760" cy="4063680"/>
          </a:xfrm>
          <a:prstGeom prst="rect">
            <a:avLst/>
          </a:prstGeom>
          <a:ln w="0">
            <a:noFill/>
          </a:ln>
        </p:spPr>
      </p:pic>
      <p:pic>
        <p:nvPicPr>
          <p:cNvPr id="188" name="" descr=""/>
          <p:cNvPicPr/>
          <p:nvPr/>
        </p:nvPicPr>
        <p:blipFill>
          <a:blip r:embed="rId3"/>
          <a:stretch/>
        </p:blipFill>
        <p:spPr>
          <a:xfrm>
            <a:off x="-5400" y="1168560"/>
            <a:ext cx="12191760" cy="4063680"/>
          </a:xfrm>
          <a:prstGeom prst="rect">
            <a:avLst/>
          </a:prstGeom>
          <a:ln w="0">
            <a:noFill/>
          </a:ln>
        </p:spPr>
      </p:pic>
      <p:pic>
        <p:nvPicPr>
          <p:cNvPr id="189" name="" descr=""/>
          <p:cNvPicPr/>
          <p:nvPr/>
        </p:nvPicPr>
        <p:blipFill>
          <a:blip r:embed="rId4"/>
          <a:stretch/>
        </p:blipFill>
        <p:spPr>
          <a:xfrm>
            <a:off x="-5400" y="1168560"/>
            <a:ext cx="12191760" cy="4063680"/>
          </a:xfrm>
          <a:prstGeom prst="rect">
            <a:avLst/>
          </a:prstGeom>
          <a:ln w="0">
            <a:noFill/>
          </a:ln>
        </p:spPr>
      </p:pic>
      <p:pic>
        <p:nvPicPr>
          <p:cNvPr id="190" name="" descr=""/>
          <p:cNvPicPr/>
          <p:nvPr/>
        </p:nvPicPr>
        <p:blipFill>
          <a:blip r:embed="rId5"/>
          <a:stretch/>
        </p:blipFill>
        <p:spPr>
          <a:xfrm>
            <a:off x="-5400" y="1168560"/>
            <a:ext cx="12191760" cy="4063680"/>
          </a:xfrm>
          <a:prstGeom prst="rect">
            <a:avLst/>
          </a:prstGeom>
          <a:ln w="0">
            <a:noFill/>
          </a:ln>
        </p:spPr>
      </p:pic>
      <p:pic>
        <p:nvPicPr>
          <p:cNvPr id="191" name="" descr=""/>
          <p:cNvPicPr/>
          <p:nvPr/>
        </p:nvPicPr>
        <p:blipFill>
          <a:blip r:embed="rId6"/>
          <a:stretch/>
        </p:blipFill>
        <p:spPr>
          <a:xfrm>
            <a:off x="-5400" y="1168560"/>
            <a:ext cx="12191760" cy="4063680"/>
          </a:xfrm>
          <a:prstGeom prst="rect">
            <a:avLst/>
          </a:prstGeom>
          <a:ln w="0">
            <a:noFill/>
          </a:ln>
        </p:spPr>
      </p:pic>
      <p:pic>
        <p:nvPicPr>
          <p:cNvPr id="192" name="" descr=""/>
          <p:cNvPicPr/>
          <p:nvPr/>
        </p:nvPicPr>
        <p:blipFill>
          <a:blip r:embed="rId7"/>
          <a:stretch/>
        </p:blipFill>
        <p:spPr>
          <a:xfrm>
            <a:off x="-5400" y="1168560"/>
            <a:ext cx="12191760" cy="4063680"/>
          </a:xfrm>
          <a:prstGeom prst="rect">
            <a:avLst/>
          </a:prstGeom>
          <a:ln w="0">
            <a:noFill/>
          </a:ln>
        </p:spPr>
      </p:pic>
      <p:pic>
        <p:nvPicPr>
          <p:cNvPr id="193" name="" descr=""/>
          <p:cNvPicPr/>
          <p:nvPr/>
        </p:nvPicPr>
        <p:blipFill>
          <a:blip r:embed="rId8"/>
          <a:stretch/>
        </p:blipFill>
        <p:spPr>
          <a:xfrm>
            <a:off x="-5400" y="1168560"/>
            <a:ext cx="12191760" cy="4063680"/>
          </a:xfrm>
          <a:prstGeom prst="rect">
            <a:avLst/>
          </a:prstGeom>
          <a:ln w="0">
            <a:noFill/>
          </a:ln>
        </p:spPr>
      </p:pic>
      <p:pic>
        <p:nvPicPr>
          <p:cNvPr id="194" name="" descr=""/>
          <p:cNvPicPr/>
          <p:nvPr/>
        </p:nvPicPr>
        <p:blipFill>
          <a:blip r:embed="rId9"/>
          <a:stretch/>
        </p:blipFill>
        <p:spPr>
          <a:xfrm>
            <a:off x="-5400" y="1168560"/>
            <a:ext cx="12191760" cy="4063680"/>
          </a:xfrm>
          <a:prstGeom prst="rect">
            <a:avLst/>
          </a:prstGeom>
          <a:ln w="0">
            <a:noFill/>
          </a:ln>
        </p:spPr>
      </p:pic>
      <p:pic>
        <p:nvPicPr>
          <p:cNvPr id="195" name="" descr=""/>
          <p:cNvPicPr/>
          <p:nvPr/>
        </p:nvPicPr>
        <p:blipFill>
          <a:blip r:embed="rId10"/>
          <a:stretch/>
        </p:blipFill>
        <p:spPr>
          <a:xfrm>
            <a:off x="-5400" y="1168560"/>
            <a:ext cx="12191760" cy="4063680"/>
          </a:xfrm>
          <a:prstGeom prst="rect">
            <a:avLst/>
          </a:prstGeom>
          <a:ln w="0">
            <a:noFill/>
          </a:ln>
        </p:spPr>
      </p:pic>
      <p:pic>
        <p:nvPicPr>
          <p:cNvPr id="196" name="" descr=""/>
          <p:cNvPicPr/>
          <p:nvPr/>
        </p:nvPicPr>
        <p:blipFill>
          <a:blip r:embed="rId11"/>
          <a:stretch/>
        </p:blipFill>
        <p:spPr>
          <a:xfrm>
            <a:off x="-5400" y="1168560"/>
            <a:ext cx="12191760" cy="4063680"/>
          </a:xfrm>
          <a:prstGeom prst="rect">
            <a:avLst/>
          </a:prstGeom>
          <a:ln w="0">
            <a:noFill/>
          </a:ln>
        </p:spPr>
      </p:pic>
      <p:pic>
        <p:nvPicPr>
          <p:cNvPr id="197" name="" descr=""/>
          <p:cNvPicPr/>
          <p:nvPr/>
        </p:nvPicPr>
        <p:blipFill>
          <a:blip r:embed="rId12"/>
          <a:stretch/>
        </p:blipFill>
        <p:spPr>
          <a:xfrm>
            <a:off x="-5400" y="1208880"/>
            <a:ext cx="12191760" cy="406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" dur="indefinite" restart="never" nodeType="tmRoot">
          <p:childTnLst>
            <p:seq>
              <p:cTn id="76" dur="indefinite" nodeType="mainSeq">
                <p:childTnLst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Num" idx="4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title"/>
          </p:nvPr>
        </p:nvSpPr>
        <p:spPr>
          <a:xfrm>
            <a:off x="0" y="-6120"/>
            <a:ext cx="7220880" cy="47556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txBody>
          <a:bodyPr numCol="1" spcCol="0" lIns="91440" rIns="91440" tIns="45720" bIns="45720" anchor="ctr">
            <a:norm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600" spc="-1" strike="noStrike">
                <a:solidFill>
                  <a:schemeClr val="lt1"/>
                </a:solidFill>
                <a:latin typeface="Arial"/>
                <a:ea typeface="Arial"/>
              </a:rPr>
              <a:t>Hyperband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6020640" y="4712040"/>
            <a:ext cx="59054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217800" indent="-2178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  <a:ea typeface="Arial"/>
              </a:rPr>
              <a:t>Repeatedly calls SuccessiveHalving</a:t>
            </a:r>
            <a:r>
              <a:rPr b="0" lang="fr-FR" sz="1600" spc="-1" strike="noStrike">
                <a:solidFill>
                  <a:schemeClr val="dk1"/>
                </a:solidFill>
                <a:latin typeface="Arial"/>
                <a:ea typeface="Arial"/>
              </a:rPr>
              <a:t> but mitigate it’s drawbacks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217800" indent="-2178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6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0" lang="fr-FR" sz="1600" spc="-1" strike="noStrike">
                <a:solidFill>
                  <a:schemeClr val="dk1"/>
                </a:solidFill>
                <a:latin typeface="Arial"/>
                <a:ea typeface="Arial"/>
              </a:rPr>
              <a:t>Limited convergence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" name="" descr=""/>
          <p:cNvPicPr/>
          <p:nvPr/>
        </p:nvPicPr>
        <p:blipFill>
          <a:blip r:embed="rId1"/>
          <a:stretch/>
        </p:blipFill>
        <p:spPr>
          <a:xfrm>
            <a:off x="5267520" y="816480"/>
            <a:ext cx="6768360" cy="2717280"/>
          </a:xfrm>
          <a:prstGeom prst="rect">
            <a:avLst/>
          </a:prstGeom>
          <a:ln w="0">
            <a:noFill/>
          </a:ln>
        </p:spPr>
      </p:pic>
      <p:pic>
        <p:nvPicPr>
          <p:cNvPr id="202" name="" descr=""/>
          <p:cNvPicPr/>
          <p:nvPr/>
        </p:nvPicPr>
        <p:blipFill>
          <a:blip r:embed="rId2"/>
          <a:srcRect l="0" t="0" r="22560" b="0"/>
          <a:stretch/>
        </p:blipFill>
        <p:spPr>
          <a:xfrm>
            <a:off x="126360" y="739800"/>
            <a:ext cx="4902840" cy="3010680"/>
          </a:xfrm>
          <a:prstGeom prst="rect">
            <a:avLst/>
          </a:prstGeom>
          <a:ln w="0">
            <a:noFill/>
          </a:ln>
        </p:spPr>
      </p:pic>
      <p:pic>
        <p:nvPicPr>
          <p:cNvPr id="203" name="" descr=""/>
          <p:cNvPicPr/>
          <p:nvPr/>
        </p:nvPicPr>
        <p:blipFill>
          <a:blip r:embed="rId3"/>
          <a:stretch/>
        </p:blipFill>
        <p:spPr>
          <a:xfrm>
            <a:off x="209160" y="3750840"/>
            <a:ext cx="5550480" cy="297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183;p42"/>
          <p:cNvSpPr/>
          <p:nvPr/>
        </p:nvSpPr>
        <p:spPr>
          <a:xfrm rot="5400000">
            <a:off x="2662200" y="-2693160"/>
            <a:ext cx="6867360" cy="12211920"/>
          </a:xfrm>
          <a:prstGeom prst="rtTriangle">
            <a:avLst/>
          </a:prstGeom>
          <a:solidFill>
            <a:srgbClr val="38761d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205" name="Google Shape;184;p42"/>
          <p:cNvSpPr/>
          <p:nvPr/>
        </p:nvSpPr>
        <p:spPr>
          <a:xfrm>
            <a:off x="788760" y="593280"/>
            <a:ext cx="8342640" cy="12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clip" tIns="91440" bIns="9144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lt1"/>
                </a:solidFill>
                <a:latin typeface="Arial"/>
                <a:ea typeface="Arial"/>
              </a:rPr>
              <a:t>Advanced Algorithms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fr-FR" sz="2200" spc="-1" strike="noStrike">
                <a:solidFill>
                  <a:schemeClr val="lt1"/>
                </a:solidFill>
                <a:latin typeface="Arial"/>
                <a:ea typeface="Arial"/>
              </a:rPr>
              <a:t>Hybrid time !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Google Shape;185;p42"/>
          <p:cNvSpPr/>
          <p:nvPr/>
        </p:nvSpPr>
        <p:spPr>
          <a:xfrm>
            <a:off x="11296800" y="6217560"/>
            <a:ext cx="7308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8970ABF6-22D5-4105-981D-0C18D439FAD0}" type="slidenum">
              <a:rPr b="0" lang="fr-FR" sz="1000" spc="-1" strike="noStrike">
                <a:solidFill>
                  <a:srgbClr val="595959"/>
                </a:solidFill>
                <a:latin typeface="Times New Roman"/>
                <a:ea typeface="Times New Roman"/>
              </a:rPr>
              <a:t>15</a:t>
            </a:fld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Google Shape;186;p42"/>
          <p:cNvSpPr/>
          <p:nvPr/>
        </p:nvSpPr>
        <p:spPr>
          <a:xfrm>
            <a:off x="6707520" y="3093480"/>
            <a:ext cx="5320080" cy="25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PBT ◂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BOHB, DEHB ◂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spcBef>
                <a:spcPts val="1196"/>
              </a:spcBef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spcBef>
                <a:spcPts val="1196"/>
              </a:spcBef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3657600" indent="149760" algn="ctr" defTabSz="914400">
              <a:lnSpc>
                <a:spcPct val="114000"/>
              </a:lnSpc>
              <a:spcBef>
                <a:spcPts val="1196"/>
              </a:spcBef>
              <a:tabLst>
                <a:tab algn="l" pos="0"/>
              </a:tabLst>
            </a:pPr>
            <a:r>
              <a:rPr b="0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 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sldNum" idx="50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title"/>
          </p:nvPr>
        </p:nvSpPr>
        <p:spPr>
          <a:xfrm>
            <a:off x="-5400" y="-3600"/>
            <a:ext cx="6193800" cy="47556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txBody>
          <a:bodyPr numCol="1" spcCol="0" lIns="91440" rIns="91440" tIns="45720" bIns="45720" anchor="ctr">
            <a:norm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600" spc="-1" strike="noStrike">
                <a:solidFill>
                  <a:schemeClr val="lt1"/>
                </a:solidFill>
                <a:latin typeface="Arial"/>
                <a:ea typeface="Arial"/>
              </a:rPr>
              <a:t>PBT : Population Based Training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11" name="" descr=""/>
          <p:cNvPicPr/>
          <p:nvPr/>
        </p:nvPicPr>
        <p:blipFill>
          <a:blip r:embed="rId1"/>
          <a:stretch/>
        </p:blipFill>
        <p:spPr>
          <a:xfrm>
            <a:off x="356760" y="762840"/>
            <a:ext cx="5046480" cy="2831040"/>
          </a:xfrm>
          <a:prstGeom prst="rect">
            <a:avLst/>
          </a:prstGeom>
          <a:ln w="0">
            <a:noFill/>
          </a:ln>
        </p:spPr>
      </p:pic>
      <p:sp>
        <p:nvSpPr>
          <p:cNvPr id="212" name=""/>
          <p:cNvSpPr/>
          <p:nvPr/>
        </p:nvSpPr>
        <p:spPr>
          <a:xfrm>
            <a:off x="6379200" y="1260720"/>
            <a:ext cx="54975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Research and optimization of hyper parameters during training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For large models with long and poorly parallelizable tests on a few machines.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Exploit</a:t>
            </a: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  = Copy of the weights of the best model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Explore </a:t>
            </a: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= Bayesian Optimization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" descr=""/>
          <p:cNvPicPr/>
          <p:nvPr/>
        </p:nvPicPr>
        <p:blipFill>
          <a:blip r:embed="rId2"/>
          <a:stretch/>
        </p:blipFill>
        <p:spPr>
          <a:xfrm>
            <a:off x="3483720" y="4116240"/>
            <a:ext cx="5553360" cy="223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Num" idx="5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/>
          </p:nvPr>
        </p:nvSpPr>
        <p:spPr>
          <a:xfrm>
            <a:off x="-5400" y="-3600"/>
            <a:ext cx="2387160" cy="47556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txBody>
          <a:bodyPr numCol="1" spcCol="0" lIns="91440" rIns="91440" tIns="45720" bIns="45720" anchor="ctr">
            <a:norm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600" spc="-1" strike="noStrike">
                <a:solidFill>
                  <a:schemeClr val="lt1"/>
                </a:solidFill>
                <a:latin typeface="Arial"/>
                <a:ea typeface="Arial"/>
              </a:rPr>
              <a:t>BOHB, DEHB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16" name="" descr=""/>
          <p:cNvPicPr/>
          <p:nvPr/>
        </p:nvPicPr>
        <p:blipFill>
          <a:blip r:embed="rId1"/>
          <a:srcRect l="0" t="0" r="48847" b="15222"/>
          <a:stretch/>
        </p:blipFill>
        <p:spPr>
          <a:xfrm>
            <a:off x="5535720" y="727920"/>
            <a:ext cx="6650640" cy="5776920"/>
          </a:xfrm>
          <a:prstGeom prst="rect">
            <a:avLst/>
          </a:prstGeom>
          <a:ln w="0">
            <a:noFill/>
          </a:ln>
        </p:spPr>
      </p:pic>
      <p:pic>
        <p:nvPicPr>
          <p:cNvPr id="217" name="" descr=""/>
          <p:cNvPicPr/>
          <p:nvPr/>
        </p:nvPicPr>
        <p:blipFill>
          <a:blip r:embed="rId2"/>
          <a:stretch/>
        </p:blipFill>
        <p:spPr>
          <a:xfrm>
            <a:off x="42840" y="1826280"/>
            <a:ext cx="6096960" cy="3382560"/>
          </a:xfrm>
          <a:prstGeom prst="rect">
            <a:avLst/>
          </a:prstGeom>
          <a:ln w="0">
            <a:noFill/>
          </a:ln>
        </p:spPr>
      </p:pic>
      <p:sp>
        <p:nvSpPr>
          <p:cNvPr id="218" name=""/>
          <p:cNvSpPr/>
          <p:nvPr/>
        </p:nvSpPr>
        <p:spPr>
          <a:xfrm>
            <a:off x="826560" y="1440720"/>
            <a:ext cx="4476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BOHB : Bayesian Optimization Hyperband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6775920" y="471600"/>
            <a:ext cx="428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DEHB : Differential Evolution Hyperband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185;p42"/>
          <p:cNvSpPr/>
          <p:nvPr/>
        </p:nvSpPr>
        <p:spPr>
          <a:xfrm>
            <a:off x="11296800" y="6217560"/>
            <a:ext cx="7308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2B272ED7-0332-4728-9635-21B40989F75A}" type="slidenum">
              <a:rPr b="0" lang="fr-FR" sz="1000" spc="-1" strike="noStrike">
                <a:solidFill>
                  <a:srgbClr val="595959"/>
                </a:solidFill>
                <a:latin typeface="Times New Roman"/>
                <a:ea typeface="Times New Roman"/>
              </a:rPr>
              <a:t>17</a:t>
            </a:fld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sldNum" idx="53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1"/>
          <a:stretch/>
        </p:blipFill>
        <p:spPr>
          <a:xfrm>
            <a:off x="1373040" y="-5763600"/>
            <a:ext cx="9632520" cy="541800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23" name=""/>
          <p:cNvGraphicFramePr/>
          <p:nvPr/>
        </p:nvGraphicFramePr>
        <p:xfrm>
          <a:off x="1426680" y="619920"/>
          <a:ext cx="9426240" cy="6121440"/>
        </p:xfrm>
        <a:graphic>
          <a:graphicData uri="http://schemas.openxmlformats.org/presentationml/2006/ole">
            <p:oleObj progId="asc.{DB38923B-A8C0-4DE9-8AEE-A61BB5C901A5}" r:id="rId2" spid="">
              <p:embed/>
              <p:pic>
                <p:nvPicPr>
                  <p:cNvPr id="224" name="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26680" y="619920"/>
                    <a:ext cx="9426240" cy="61214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25" name="PlaceHolder 2"/>
          <p:cNvSpPr>
            <a:spLocks noGrp="1"/>
          </p:cNvSpPr>
          <p:nvPr>
            <p:ph type="title"/>
          </p:nvPr>
        </p:nvSpPr>
        <p:spPr>
          <a:xfrm>
            <a:off x="-5400" y="-3600"/>
            <a:ext cx="2387160" cy="47556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txBody>
          <a:bodyPr numCol="1" spcCol="0" lIns="91440" rIns="91440" tIns="45720" bIns="45720" anchor="ctr">
            <a:norm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600" spc="-1" strike="noStrike">
                <a:solidFill>
                  <a:schemeClr val="lt1"/>
                </a:solidFill>
                <a:latin typeface="Arial"/>
                <a:ea typeface="Arial"/>
              </a:rPr>
              <a:t>Summary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4320000" y="1260000"/>
            <a:ext cx="1260000" cy="1620000"/>
          </a:xfrm>
          <a:prstGeom prst="rect">
            <a:avLst/>
          </a:prstGeom>
          <a:noFill/>
          <a:ln w="5724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1800000" y="1260000"/>
            <a:ext cx="1260000" cy="1800000"/>
          </a:xfrm>
          <a:prstGeom prst="rect">
            <a:avLst/>
          </a:prstGeom>
          <a:noFill/>
          <a:ln w="5724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6660000" y="2160000"/>
            <a:ext cx="1260000" cy="1260000"/>
          </a:xfrm>
          <a:prstGeom prst="rect">
            <a:avLst/>
          </a:prstGeom>
          <a:noFill/>
          <a:ln w="5724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1800000" y="1260000"/>
            <a:ext cx="1260000" cy="1800000"/>
          </a:xfrm>
          <a:prstGeom prst="rect">
            <a:avLst/>
          </a:prstGeom>
          <a:noFill/>
          <a:ln w="5724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9360000" y="2160000"/>
            <a:ext cx="1260000" cy="1980000"/>
          </a:xfrm>
          <a:prstGeom prst="rect">
            <a:avLst/>
          </a:prstGeom>
          <a:noFill/>
          <a:ln w="5724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4320000" y="4320000"/>
            <a:ext cx="1260000" cy="1800000"/>
          </a:xfrm>
          <a:prstGeom prst="rect">
            <a:avLst/>
          </a:prstGeom>
          <a:noFill/>
          <a:ln w="5724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73440" bIns="7344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183;p42"/>
          <p:cNvSpPr/>
          <p:nvPr/>
        </p:nvSpPr>
        <p:spPr>
          <a:xfrm rot="5400000">
            <a:off x="2662200" y="-2693160"/>
            <a:ext cx="6867360" cy="12211920"/>
          </a:xfrm>
          <a:prstGeom prst="rtTriangle">
            <a:avLst/>
          </a:prstGeom>
          <a:solidFill>
            <a:srgbClr val="38761d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233" name="Google Shape;184;p42"/>
          <p:cNvSpPr/>
          <p:nvPr/>
        </p:nvSpPr>
        <p:spPr>
          <a:xfrm>
            <a:off x="788760" y="593280"/>
            <a:ext cx="8342640" cy="12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clip" tIns="91440" bIns="9144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lt1"/>
                </a:solidFill>
                <a:latin typeface="Arial"/>
                <a:ea typeface="Arial"/>
              </a:rPr>
              <a:t>Have the right tools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Google Shape;185;p42"/>
          <p:cNvSpPr/>
          <p:nvPr/>
        </p:nvSpPr>
        <p:spPr>
          <a:xfrm>
            <a:off x="11296800" y="6217560"/>
            <a:ext cx="730800" cy="5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fld id="{C4BAE903-7542-4FA1-8503-336E8DEA1C59}" type="slidenum">
              <a:rPr b="0" lang="fr-FR" sz="1000" spc="-1" strike="noStrike">
                <a:solidFill>
                  <a:srgbClr val="595959"/>
                </a:solidFill>
                <a:latin typeface="Times New Roman"/>
                <a:ea typeface="Times New Roman"/>
              </a:rPr>
              <a:t>19</a:t>
            </a:fld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oogle Shape;186;p42"/>
          <p:cNvSpPr/>
          <p:nvPr/>
        </p:nvSpPr>
        <p:spPr>
          <a:xfrm>
            <a:off x="6707520" y="3093480"/>
            <a:ext cx="5320080" cy="25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HPO frameworks ◂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Visualisation &amp; Experiments Tracking ◂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spcBef>
                <a:spcPts val="1196"/>
              </a:spcBef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r" defTabSz="914400">
              <a:lnSpc>
                <a:spcPct val="114000"/>
              </a:lnSpc>
              <a:spcBef>
                <a:spcPts val="1196"/>
              </a:spcBef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3657600" indent="149760" algn="ctr" defTabSz="914400">
              <a:lnSpc>
                <a:spcPct val="114000"/>
              </a:lnSpc>
              <a:spcBef>
                <a:spcPts val="1196"/>
              </a:spcBef>
              <a:tabLst>
                <a:tab algn="l" pos="0"/>
              </a:tabLst>
            </a:pPr>
            <a:r>
              <a:rPr b="0" lang="fr-FR" sz="1800" spc="-1" strike="noStrike">
                <a:solidFill>
                  <a:srgbClr val="434343"/>
                </a:solidFill>
                <a:latin typeface="Arial"/>
                <a:ea typeface="Arial"/>
              </a:rPr>
              <a:t> 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1"/>
          <p:cNvSpPr>
            <a:spLocks noGrp="1"/>
          </p:cNvSpPr>
          <p:nvPr>
            <p:ph type="sldNum" idx="54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Num" idx="5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pic>
        <p:nvPicPr>
          <p:cNvPr id="238" name="" descr=""/>
          <p:cNvPicPr/>
          <p:nvPr/>
        </p:nvPicPr>
        <p:blipFill>
          <a:blip r:embed="rId1"/>
          <a:stretch/>
        </p:blipFill>
        <p:spPr>
          <a:xfrm>
            <a:off x="341640" y="772200"/>
            <a:ext cx="4330800" cy="1288800"/>
          </a:xfrm>
          <a:prstGeom prst="rect">
            <a:avLst/>
          </a:prstGeom>
          <a:ln w="0">
            <a:noFill/>
          </a:ln>
        </p:spPr>
      </p:pic>
      <p:pic>
        <p:nvPicPr>
          <p:cNvPr id="239" name="" descr=""/>
          <p:cNvPicPr/>
          <p:nvPr/>
        </p:nvPicPr>
        <p:blipFill>
          <a:blip r:embed="rId2"/>
          <a:stretch/>
        </p:blipFill>
        <p:spPr>
          <a:xfrm>
            <a:off x="5844240" y="720720"/>
            <a:ext cx="5584320" cy="1226160"/>
          </a:xfrm>
          <a:prstGeom prst="rect">
            <a:avLst/>
          </a:prstGeom>
          <a:ln w="0">
            <a:noFill/>
          </a:ln>
        </p:spPr>
      </p:pic>
      <p:sp>
        <p:nvSpPr>
          <p:cNvPr id="240" name=""/>
          <p:cNvSpPr/>
          <p:nvPr/>
        </p:nvSpPr>
        <p:spPr>
          <a:xfrm>
            <a:off x="921960" y="2184480"/>
            <a:ext cx="2932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anchor="t">
            <a:spAutoFit/>
          </a:bodyPr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Based on config file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Easy to use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Not only used for ML/DL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7471800" y="1946880"/>
            <a:ext cx="374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anchor="t">
            <a:spAutoFit/>
          </a:bodyPr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Work with an objective function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Efficient Optimization Algorithms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itre 8"/>
          <p:cNvSpPr/>
          <p:nvPr/>
        </p:nvSpPr>
        <p:spPr>
          <a:xfrm>
            <a:off x="-1440" y="4320"/>
            <a:ext cx="3911760" cy="44712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spAutoFit/>
          </a:bodyPr>
          <a:p>
            <a:pPr defTabSz="914400">
              <a:lnSpc>
                <a:spcPct val="90000"/>
              </a:lnSpc>
            </a:pPr>
            <a:r>
              <a:rPr b="0" lang="fr-FR" sz="2600" spc="-1" strike="noStrike">
                <a:solidFill>
                  <a:schemeClr val="lt1"/>
                </a:solidFill>
                <a:latin typeface="Arial"/>
                <a:ea typeface="Arial"/>
              </a:rPr>
              <a:t>HPO Frameworks &amp; tools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3" name="" descr=""/>
          <p:cNvPicPr/>
          <p:nvPr/>
        </p:nvPicPr>
        <p:blipFill>
          <a:blip r:embed="rId3"/>
          <a:stretch/>
        </p:blipFill>
        <p:spPr>
          <a:xfrm>
            <a:off x="3061800" y="3610080"/>
            <a:ext cx="5609880" cy="1765080"/>
          </a:xfrm>
          <a:prstGeom prst="rect">
            <a:avLst/>
          </a:prstGeom>
          <a:ln w="0">
            <a:noFill/>
          </a:ln>
        </p:spPr>
      </p:pic>
      <p:sp>
        <p:nvSpPr>
          <p:cNvPr id="244" name=""/>
          <p:cNvSpPr/>
          <p:nvPr/>
        </p:nvSpPr>
        <p:spPr>
          <a:xfrm>
            <a:off x="3541320" y="5349960"/>
            <a:ext cx="47746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Scalable HPO framework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State of the art algorithms (PBT)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Integrates with a wide range of additional HPO tools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7628040" y="1364400"/>
            <a:ext cx="459360" cy="470520"/>
          </a:xfrm>
          <a:prstGeom prst="plus">
            <a:avLst>
              <a:gd name="adj" fmla="val 38709"/>
            </a:avLst>
          </a:prstGeom>
          <a:solidFill>
            <a:srgbClr val="3876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1349280" y="3378600"/>
            <a:ext cx="6490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Advantages 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allows you to save and order the results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allows easy comparison and visualization of results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provides all the information needed to reproduce the results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" descr=""/>
          <p:cNvPicPr/>
          <p:nvPr/>
        </p:nvPicPr>
        <p:blipFill>
          <a:blip r:embed="rId1"/>
          <a:srcRect l="0" t="0" r="66695" b="0"/>
          <a:stretch/>
        </p:blipFill>
        <p:spPr>
          <a:xfrm>
            <a:off x="256320" y="1072080"/>
            <a:ext cx="2185560" cy="869400"/>
          </a:xfrm>
          <a:prstGeom prst="rect">
            <a:avLst/>
          </a:prstGeom>
          <a:ln w="0">
            <a:noFill/>
          </a:ln>
        </p:spPr>
      </p:pic>
      <p:sp>
        <p:nvSpPr>
          <p:cNvPr id="249" name="Titre 8"/>
          <p:cNvSpPr/>
          <p:nvPr/>
        </p:nvSpPr>
        <p:spPr>
          <a:xfrm>
            <a:off x="-1440" y="-720"/>
            <a:ext cx="3270240" cy="44712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spAutoFit/>
          </a:bodyPr>
          <a:p>
            <a:pPr defTabSz="914400">
              <a:lnSpc>
                <a:spcPct val="90000"/>
              </a:lnSpc>
            </a:pPr>
            <a:r>
              <a:rPr b="0" lang="fr-FR" sz="2600" spc="-1" strike="noStrike">
                <a:solidFill>
                  <a:schemeClr val="lt1"/>
                </a:solidFill>
                <a:latin typeface="Arial"/>
                <a:ea typeface="Arial"/>
              </a:rPr>
              <a:t>Experiments tracking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0" name="" descr=""/>
          <p:cNvPicPr/>
          <p:nvPr/>
        </p:nvPicPr>
        <p:blipFill>
          <a:blip r:embed="rId2"/>
          <a:srcRect l="35666" t="0" r="0" b="0"/>
          <a:stretch/>
        </p:blipFill>
        <p:spPr>
          <a:xfrm>
            <a:off x="3367080" y="1072080"/>
            <a:ext cx="4162320" cy="857160"/>
          </a:xfrm>
          <a:prstGeom prst="rect">
            <a:avLst/>
          </a:prstGeom>
          <a:ln w="0">
            <a:noFill/>
          </a:ln>
        </p:spPr>
      </p:pic>
      <p:grpSp>
        <p:nvGrpSpPr>
          <p:cNvPr id="251" name=""/>
          <p:cNvGrpSpPr/>
          <p:nvPr/>
        </p:nvGrpSpPr>
        <p:grpSpPr>
          <a:xfrm>
            <a:off x="8251920" y="721080"/>
            <a:ext cx="3700080" cy="1756800"/>
            <a:chOff x="8251920" y="721080"/>
            <a:chExt cx="3700080" cy="1756800"/>
          </a:xfrm>
        </p:grpSpPr>
        <p:sp>
          <p:nvSpPr>
            <p:cNvPr id="252" name=""/>
            <p:cNvSpPr/>
            <p:nvPr/>
          </p:nvSpPr>
          <p:spPr>
            <a:xfrm>
              <a:off x="8251920" y="721080"/>
              <a:ext cx="3700080" cy="1756800"/>
            </a:xfrm>
            <a:prstGeom prst="flowChartAlternateProcess">
              <a:avLst/>
            </a:prstGeom>
            <a:noFill/>
            <a:ln w="19049">
              <a:solidFill>
                <a:srgbClr val="38761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rial"/>
                <a:ea typeface="Arial"/>
              </a:endParaRPr>
            </a:p>
          </p:txBody>
        </p:sp>
        <p:sp>
          <p:nvSpPr>
            <p:cNvPr id="253" name=""/>
            <p:cNvSpPr/>
            <p:nvPr/>
          </p:nvSpPr>
          <p:spPr>
            <a:xfrm>
              <a:off x="8366040" y="998280"/>
              <a:ext cx="1707840" cy="36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horzOverflow="overflow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dk1"/>
                  </a:solidFill>
                  <a:latin typeface="Arial"/>
                  <a:ea typeface="Arial"/>
                </a:rPr>
                <a:t>Source Control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" name=""/>
            <p:cNvSpPr/>
            <p:nvPr/>
          </p:nvSpPr>
          <p:spPr>
            <a:xfrm>
              <a:off x="8371800" y="1883520"/>
              <a:ext cx="2293200" cy="36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horzOverflow="overflow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chemeClr val="dk1"/>
                  </a:solidFill>
                  <a:latin typeface="Arial"/>
                  <a:ea typeface="Arial"/>
                </a:rPr>
                <a:t>Data Version Control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55" name="" descr=""/>
            <p:cNvPicPr/>
            <p:nvPr/>
          </p:nvPicPr>
          <p:blipFill>
            <a:blip r:embed="rId3"/>
            <a:stretch/>
          </p:blipFill>
          <p:spPr>
            <a:xfrm>
              <a:off x="10102320" y="812520"/>
              <a:ext cx="1679400" cy="715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6" name="" descr=""/>
            <p:cNvPicPr/>
            <p:nvPr/>
          </p:nvPicPr>
          <p:blipFill>
            <a:blip r:embed="rId4"/>
            <a:stretch/>
          </p:blipFill>
          <p:spPr>
            <a:xfrm>
              <a:off x="10675080" y="1763640"/>
              <a:ext cx="748080" cy="4856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57" name=""/>
          <p:cNvSpPr/>
          <p:nvPr/>
        </p:nvSpPr>
        <p:spPr>
          <a:xfrm>
            <a:off x="2488680" y="1425960"/>
            <a:ext cx="82512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2600" spc="-1" strike="noStrike">
                <a:solidFill>
                  <a:srgbClr val="38761d"/>
                </a:solidFill>
                <a:latin typeface="Arial Black"/>
                <a:ea typeface="Arial Black"/>
              </a:rPr>
              <a:t>OU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Num" idx="5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pic>
        <p:nvPicPr>
          <p:cNvPr id="259" name="" descr=""/>
          <p:cNvPicPr/>
          <p:nvPr/>
        </p:nvPicPr>
        <p:blipFill>
          <a:blip r:embed="rId1"/>
          <a:stretch/>
        </p:blipFill>
        <p:spPr>
          <a:xfrm>
            <a:off x="5686200" y="700920"/>
            <a:ext cx="6419160" cy="4486680"/>
          </a:xfrm>
          <a:prstGeom prst="rect">
            <a:avLst/>
          </a:prstGeom>
          <a:ln w="0">
            <a:noFill/>
          </a:ln>
        </p:spPr>
      </p:pic>
      <p:sp>
        <p:nvSpPr>
          <p:cNvPr id="260" name="PlaceHolder 2"/>
          <p:cNvSpPr>
            <a:spLocks noGrp="1"/>
          </p:cNvSpPr>
          <p:nvPr>
            <p:ph type="title"/>
          </p:nvPr>
        </p:nvSpPr>
        <p:spPr>
          <a:xfrm>
            <a:off x="360" y="720"/>
            <a:ext cx="3059640" cy="44820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600" spc="-1" strike="noStrike">
                <a:solidFill>
                  <a:schemeClr val="lt1"/>
                </a:solidFill>
                <a:latin typeface="Arial"/>
                <a:ea typeface="Arial"/>
              </a:rPr>
              <a:t>HPO and MLOps</a:t>
            </a:r>
            <a:endParaRPr b="0" lang="fr-FR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6311160" y="5201280"/>
            <a:ext cx="542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https://ml-ops.org/content/end-to-end-ml-workflow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2" name=""/>
          <p:cNvGrpSpPr/>
          <p:nvPr/>
        </p:nvGrpSpPr>
        <p:grpSpPr>
          <a:xfrm>
            <a:off x="372600" y="794160"/>
            <a:ext cx="5052600" cy="1811520"/>
            <a:chOff x="372600" y="794160"/>
            <a:chExt cx="5052600" cy="1811520"/>
          </a:xfrm>
        </p:grpSpPr>
        <p:pic>
          <p:nvPicPr>
            <p:cNvPr id="263" name="" descr=""/>
            <p:cNvPicPr/>
            <p:nvPr/>
          </p:nvPicPr>
          <p:blipFill>
            <a:blip r:embed="rId2"/>
            <a:stretch/>
          </p:blipFill>
          <p:spPr>
            <a:xfrm>
              <a:off x="372600" y="847800"/>
              <a:ext cx="1883160" cy="1757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64" name="" descr=""/>
            <p:cNvPicPr/>
            <p:nvPr/>
          </p:nvPicPr>
          <p:blipFill>
            <a:blip r:embed="rId3"/>
            <a:stretch/>
          </p:blipFill>
          <p:spPr>
            <a:xfrm>
              <a:off x="3542040" y="794160"/>
              <a:ext cx="1883160" cy="1757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65" name=""/>
            <p:cNvSpPr/>
            <p:nvPr/>
          </p:nvSpPr>
          <p:spPr>
            <a:xfrm>
              <a:off x="2363400" y="1611360"/>
              <a:ext cx="1020240" cy="24912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3876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66" name=""/>
          <p:cNvSpPr/>
          <p:nvPr/>
        </p:nvSpPr>
        <p:spPr>
          <a:xfrm>
            <a:off x="384120" y="2698560"/>
            <a:ext cx="4970520" cy="1921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306000" indent="-30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Arial"/>
              </a:rPr>
              <a:t>As soon as our HPO requires a lot of resources (time, money or both) it is necessary to scale up and industrialize the experience process.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306000" indent="-30600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Arial"/>
              </a:rPr>
              <a:t>Taking inspiration from MLOps processes and tools is a good start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" descr=""/>
          <p:cNvPicPr/>
          <p:nvPr/>
        </p:nvPicPr>
        <p:blipFill>
          <a:blip r:embed="rId4"/>
          <a:srcRect l="31307" t="15742" r="30988" b="17720"/>
          <a:stretch/>
        </p:blipFill>
        <p:spPr>
          <a:xfrm>
            <a:off x="611280" y="4906080"/>
            <a:ext cx="1618920" cy="1549080"/>
          </a:xfrm>
          <a:prstGeom prst="rect">
            <a:avLst/>
          </a:prstGeom>
          <a:ln w="0">
            <a:noFill/>
          </a:ln>
        </p:spPr>
      </p:pic>
      <p:pic>
        <p:nvPicPr>
          <p:cNvPr id="268" name="" descr=""/>
          <p:cNvPicPr/>
          <p:nvPr/>
        </p:nvPicPr>
        <p:blipFill>
          <a:blip r:embed="rId5"/>
          <a:srcRect l="0" t="0" r="66695" b="0"/>
          <a:stretch/>
        </p:blipFill>
        <p:spPr>
          <a:xfrm>
            <a:off x="2776320" y="5358600"/>
            <a:ext cx="2185560" cy="86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Num" idx="5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900" spc="-1" strike="noStrike">
              <a:solidFill>
                <a:schemeClr val="dk1">
                  <a:tint val="75000"/>
                </a:schemeClr>
              </a:solidFill>
              <a:latin typeface="Arial"/>
              <a:ea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title"/>
          </p:nvPr>
        </p:nvSpPr>
        <p:spPr>
          <a:xfrm>
            <a:off x="-4680" y="-720"/>
            <a:ext cx="1487880" cy="475560"/>
          </a:xfrm>
          <a:prstGeom prst="rect">
            <a:avLst/>
          </a:prstGeom>
          <a:solidFill>
            <a:srgbClr val="38761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fr-FR" sz="2800" spc="-1" strike="noStrike">
                <a:solidFill>
                  <a:schemeClr val="lt1"/>
                </a:solidFill>
                <a:latin typeface="Arial"/>
                <a:ea typeface="Arial"/>
              </a:rPr>
              <a:t>Sources</a:t>
            </a:r>
            <a:endParaRPr b="0" lang="fr-FR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739440" y="1551240"/>
            <a:ext cx="1090368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Hyperparameter optimization: Foundations, algorithms, best practices, and open challenges (h</a:t>
            </a:r>
            <a:r>
              <a:rPr b="0" lang="fr-FR" sz="1800" spc="-1" strike="noStrike">
                <a:solidFill>
                  <a:schemeClr val="dk1"/>
                </a:solidFill>
                <a:latin typeface="Myriad Pro SemiCond"/>
                <a:ea typeface="Myriad Pro SemiCond"/>
              </a:rPr>
              <a:t>ttps://wires.onlinelibrary.wiley.com/doi/pdfdirect/10.1002/widm.1484</a:t>
            </a: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 u="sng">
                <a:solidFill>
                  <a:schemeClr val="dk1"/>
                </a:solidFill>
                <a:uFillTx/>
                <a:latin typeface="Arial"/>
                <a:ea typeface="Arial"/>
                <a:hlinkClick r:id="rId1"/>
              </a:rPr>
              <a:t>https://www.automl.org/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Myriad Pro SemiCond"/>
                <a:ea typeface="Myriad Pro SemiCond"/>
              </a:rPr>
              <a:t>Gradient-based Hyperparameter Optimization Over Long Horizons</a:t>
            </a: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 (</a:t>
            </a:r>
            <a:r>
              <a:rPr b="0" lang="fr-FR" sz="1800" spc="-1" strike="noStrike">
                <a:solidFill>
                  <a:schemeClr val="dk1"/>
                </a:solidFill>
                <a:latin typeface="Myriad Pro SemiCond"/>
                <a:ea typeface="Myriad Pro SemiCond"/>
              </a:rPr>
              <a:t>https://openreview.net/pdf?id=6x8tcREIL2W</a:t>
            </a: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Myriad Pro SemiCond"/>
                <a:ea typeface="Myriad Pro SemiCond"/>
              </a:rPr>
              <a:t>Seld-Tuning networks : Bilevel Optimization of Hyperparameters using structured best-response functions</a:t>
            </a: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 (</a:t>
            </a:r>
            <a:r>
              <a:rPr b="0" lang="fr-FR" sz="1800" spc="-1" strike="noStrike">
                <a:solidFill>
                  <a:schemeClr val="dk1"/>
                </a:solidFill>
                <a:latin typeface="Myriad Pro SemiCond"/>
                <a:ea typeface="Myriad Pro SemiCond"/>
              </a:rPr>
              <a:t>https://openreview.net/pdf?id=r1eEG20qKQ</a:t>
            </a: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 u="sng">
                <a:solidFill>
                  <a:schemeClr val="dk1"/>
                </a:solidFill>
                <a:uFillTx/>
                <a:latin typeface="Arial"/>
                <a:ea typeface="Arial"/>
                <a:hlinkClick r:id="rId2"/>
              </a:rPr>
              <a:t>https://maelfabien.github.io/machinelearning/Explorium4/#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 u="sng">
                <a:solidFill>
                  <a:schemeClr val="dk1"/>
                </a:solidFill>
                <a:uFillTx/>
                <a:latin typeface="Arial"/>
                <a:ea typeface="Arial"/>
                <a:hlinkClick r:id="rId3"/>
              </a:rPr>
              <a:t>https://towardsdatascience.com/a-novices-guide-to-hyperparameter-optimization-at-scale-bfb4e5047150#e813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Population Based Training : </a:t>
            </a:r>
            <a:r>
              <a:rPr b="0" lang="fr-FR" sz="1800" spc="-1" strike="noStrike" u="sng">
                <a:solidFill>
                  <a:schemeClr val="dk1"/>
                </a:solidFill>
                <a:uFillTx/>
                <a:latin typeface="Arial"/>
                <a:ea typeface="Arial"/>
                <a:hlinkClick r:id="rId4"/>
              </a:rPr>
              <a:t> https://www.deepmind.com/blog/population-based-training-of-neural-networks</a:t>
            </a: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rial"/>
                <a:ea typeface="Arial"/>
              </a:rPr>
              <a:t>Hyper-Parameter Optimization: A Review of Algorithms and Applications : https://arxiv.org/pdf/2003.05689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Blank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nk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ank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lank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Blank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Blank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Blank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Blank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Blank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Blank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Blank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  <Company>SIMaP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2023-01-06T14:06:58Z</dcterms:created>
  <dc:creator>pjluc</dc:creator>
  <dc:description/>
  <dc:language>fr-FR</dc:language>
  <cp:lastModifiedBy/>
  <dcterms:modified xsi:type="dcterms:W3CDTF">2026-10-06T16:21:40Z</dcterms:modified>
  <cp:revision>193</cp:revision>
  <dc:subject/>
  <dc:title>Présentation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23</vt:i4>
  </property>
  <property fmtid="{D5CDD505-2E9C-101B-9397-08002B2CF9AE}" pid="4" name="PresentationFormat">
    <vt:lpwstr>On-screen Show (4:3)</vt:lpwstr>
  </property>
  <property fmtid="{D5CDD505-2E9C-101B-9397-08002B2CF9AE}" pid="5" name="Slides">
    <vt:i4>23</vt:i4>
  </property>
</Properties>
</file>